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5" r:id="rId2"/>
    <p:sldId id="261" r:id="rId3"/>
    <p:sldId id="266" r:id="rId4"/>
    <p:sldId id="267" r:id="rId5"/>
    <p:sldId id="269" r:id="rId6"/>
    <p:sldId id="270" r:id="rId7"/>
    <p:sldId id="271" r:id="rId8"/>
    <p:sldId id="272" r:id="rId9"/>
    <p:sldId id="273" r:id="rId10"/>
    <p:sldId id="263" r:id="rId11"/>
    <p:sldId id="268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81840" autoAdjust="0"/>
  </p:normalViewPr>
  <p:slideViewPr>
    <p:cSldViewPr snapToGrid="0" showGuides="1">
      <p:cViewPr>
        <p:scale>
          <a:sx n="80" d="100"/>
          <a:sy n="80" d="100"/>
        </p:scale>
        <p:origin x="70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12" d="100"/>
          <a:sy n="112" d="100"/>
        </p:scale>
        <p:origin x="4773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29.05.2026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29.05.2026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GMR = Giant </a:t>
            </a:r>
            <a:r>
              <a:rPr lang="de-CH" dirty="0" err="1"/>
              <a:t>MagnetoResistance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03709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331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4"/>
            <a:ext cx="468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96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4575276"/>
            <a:ext cx="10044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331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44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D6AC-3BAC-4A50-9479-1E7CD895A648}" type="datetime1">
              <a:rPr lang="de-CH" noProof="0" smtClean="0"/>
              <a:t>29.05.2026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71700" y="6522444"/>
            <a:ext cx="7200000" cy="216000"/>
          </a:xfrm>
        </p:spPr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62FC-E8FF-4D52-8F53-8F2A2A3AD348}" type="datetime1">
              <a:rPr lang="de-CH" noProof="0" smtClean="0"/>
              <a:t>29.05.2026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5A3C0-7A2F-4A62-9057-882FB8F5659A}" type="datetime1">
              <a:rPr lang="de-CH" noProof="0" smtClean="0"/>
              <a:t>29.05.2026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923CAD-8964-4A8E-9E9C-0F755B932903}" type="datetime1">
              <a:rPr lang="de-CH" noProof="0" smtClean="0"/>
              <a:t>29.05.2026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206A-A7FF-4A2F-A4EA-EDA7D9956B8C}" type="datetime1">
              <a:rPr lang="de-CH" noProof="0" smtClean="0"/>
              <a:t>29.05.2026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B7ECC-AD5B-4AE2-A84F-7ABFC0424E38}" type="datetime1">
              <a:rPr lang="de-CH" noProof="0" smtClean="0"/>
              <a:t>29.05.2026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21818-B1F9-4DD3-88F2-43FBC3C9BAF5}" type="datetime1">
              <a:rPr lang="de-CH" noProof="0" smtClean="0"/>
              <a:t>29.05.2026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0A20D-9FD8-4251-A734-1127FF21ADB2}" type="datetime1">
              <a:rPr lang="de-CH" noProof="0" smtClean="0"/>
              <a:t>29.05.2026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F4EA9-B322-4AC6-9ED4-333F1AAC8416}" type="datetime1">
              <a:rPr lang="de-CH" noProof="0" smtClean="0"/>
              <a:t>29.05.2026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9B2A-9722-4479-8974-FDB801910172}" type="datetime1">
              <a:rPr lang="de-CH" noProof="0" smtClean="0"/>
              <a:t>29.05.2026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de-DE" noProof="0"/>
              <a:t>Tabelle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269E37AB-EE9C-4565-B2FD-B1FC504BEE2A}" type="datetime1">
              <a:rPr lang="de-CH" noProof="0" smtClean="0"/>
              <a:t>29.05.2026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Organisationseinheit verbal – STRENG VERTRAULICH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XKzzWe15DEw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6CF65F36-1341-0881-6CF8-DFCC783B1BA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28" b="642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2257D4A7-4B43-9371-55A8-CC2C0FDF78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Furuta Pendulum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2D0E132-0B8C-9EBB-F548-523B7D48393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CE1492D-627F-FBFA-9E77-7B0E2702EA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4"/>
            <a:ext cx="4825484" cy="1440000"/>
          </a:xfrm>
        </p:spPr>
        <p:txBody>
          <a:bodyPr/>
          <a:lstStyle/>
          <a:p>
            <a:r>
              <a:rPr lang="en-GB" noProof="0" dirty="0"/>
              <a:t>Electronics for Physicists II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3428840-15B6-BB4A-B44A-671C296E29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noProof="0" dirty="0"/>
              <a:t>Marvin S., Nicola R.,</a:t>
            </a:r>
          </a:p>
          <a:p>
            <a:r>
              <a:rPr lang="en-GB" noProof="0" dirty="0"/>
              <a:t>Basil F.</a:t>
            </a:r>
          </a:p>
        </p:txBody>
      </p:sp>
    </p:spTree>
    <p:extLst>
      <p:ext uri="{BB962C8B-B14F-4D97-AF65-F5344CB8AC3E}">
        <p14:creationId xmlns:p14="http://schemas.microsoft.com/office/powerpoint/2010/main" val="235565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050A74-6ED2-41B3-AD63-74F89C44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792F61-F3A1-4E2C-B0EE-9742603F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Project Overview</a:t>
            </a:r>
          </a:p>
          <a:p>
            <a:r>
              <a:rPr lang="en-GB" noProof="0" dirty="0"/>
              <a:t>SSC Interface &amp; Sensor</a:t>
            </a:r>
          </a:p>
          <a:p>
            <a:r>
              <a:rPr lang="en-GB" noProof="0" dirty="0"/>
              <a:t>PID Loop</a:t>
            </a:r>
          </a:p>
          <a:p>
            <a:r>
              <a:rPr lang="en-GB" noProof="0" dirty="0"/>
              <a:t>Drive Motor</a:t>
            </a:r>
          </a:p>
          <a:p>
            <a:r>
              <a:rPr lang="en-GB" noProof="0" dirty="0"/>
              <a:t>Conclusion and Outlook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726846-AD64-4677-BEA5-D3BDD96C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387B-FBD3-42F8-9E31-B45335F65718}" type="datetime1">
              <a:rPr lang="en-GB" noProof="0" smtClean="0"/>
              <a:t>29/05/2026</a:t>
            </a:fld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665EC3-3ED3-4D21-AC3C-EAD0881B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en-GB" noProof="0" smtClean="0"/>
              <a:t>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408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C9F64-1D43-A83D-07F8-E5B031330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1. Project Overview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BC7FDA-BDD5-A25B-BF12-660BBA342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Goal: Build a real-time control system capable of stabilizing a mechanical arm.</a:t>
            </a:r>
          </a:p>
          <a:p>
            <a:r>
              <a:rPr lang="en-GB" noProof="0" dirty="0"/>
              <a:t>Hardware Components:</a:t>
            </a:r>
          </a:p>
          <a:p>
            <a:pPr lvl="1"/>
            <a:r>
              <a:rPr lang="en-GB" noProof="0" dirty="0"/>
              <a:t>FPGA (Calculations, Communication between Motor and Sensor)</a:t>
            </a:r>
          </a:p>
          <a:p>
            <a:pPr lvl="1"/>
            <a:r>
              <a:rPr lang="en-GB" noProof="0" dirty="0"/>
              <a:t>Motor [</a:t>
            </a:r>
            <a:r>
              <a:rPr lang="en-GB" noProof="0" dirty="0" err="1"/>
              <a:t>Sanmotion</a:t>
            </a:r>
            <a:r>
              <a:rPr lang="en-GB" noProof="0" dirty="0"/>
              <a:t> F2]</a:t>
            </a:r>
          </a:p>
          <a:p>
            <a:pPr lvl="1"/>
            <a:r>
              <a:rPr lang="en-GB" noProof="0" dirty="0"/>
              <a:t>Big Easy Driver (BED)</a:t>
            </a:r>
          </a:p>
          <a:p>
            <a:pPr lvl="1"/>
            <a:r>
              <a:rPr lang="en-GB" noProof="0" dirty="0"/>
              <a:t>GMR-Based Angle Sensor [TLE5012B]</a:t>
            </a:r>
          </a:p>
          <a:p>
            <a:r>
              <a:rPr lang="en-GB" noProof="0" dirty="0"/>
              <a:t>Software Components:</a:t>
            </a:r>
          </a:p>
          <a:p>
            <a:pPr lvl="1"/>
            <a:r>
              <a:rPr lang="en-GB" noProof="0" dirty="0"/>
              <a:t>Connector</a:t>
            </a:r>
          </a:p>
          <a:p>
            <a:pPr lvl="1"/>
            <a:r>
              <a:rPr lang="en-GB" noProof="0" dirty="0"/>
              <a:t>SSC Interface</a:t>
            </a:r>
          </a:p>
          <a:p>
            <a:pPr lvl="1"/>
            <a:r>
              <a:rPr lang="en-GB" noProof="0" dirty="0"/>
              <a:t>PID Loop</a:t>
            </a:r>
          </a:p>
          <a:p>
            <a:pPr lvl="1"/>
            <a:r>
              <a:rPr lang="en-GB" dirty="0"/>
              <a:t>Driver</a:t>
            </a:r>
          </a:p>
          <a:p>
            <a:pPr lvl="1"/>
            <a:r>
              <a:rPr lang="en-GB" noProof="0" dirty="0"/>
              <a:t>APB Bus (from exercises)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94F2AF-19FB-DDBB-1520-51C1F38F5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62FC-E8FF-4D52-8F53-8F2A2A3AD348}" type="datetime1">
              <a:rPr lang="en-GB" noProof="0" smtClean="0"/>
              <a:t>29/05/2026</a:t>
            </a:fld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4DE593-D2E2-FA45-89C8-B29E9E60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en-GB" noProof="0" smtClean="0"/>
              <a:t>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18949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B41C06-70BE-68B2-0657-31E0378E7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1. Project Overview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AF78BFD-2EF8-A7C5-8BD1-A30CE1834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6206A-A7FF-4A2F-A4EA-EDA7D9956B8C}" type="datetime1">
              <a:rPr lang="en-GB" noProof="0" smtClean="0"/>
              <a:t>29/05/2026</a:t>
            </a:fld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4165EAA-5E0C-E8AF-11F9-3B85725C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en-GB" noProof="0" smtClean="0"/>
              <a:t>4</a:t>
            </a:fld>
            <a:endParaRPr lang="en-GB" noProof="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BF5178E-4AF5-0951-C4A3-5754EAEB2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285" y="790206"/>
            <a:ext cx="5763429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0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4A3DA4-1132-34EB-8714-9522967C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2. SSC Interface &amp; Sensor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565F68-6D21-A849-E788-DD3D63999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SSC: Synchronous Serial Communication (Protocol used by Infineon for their TLE5012B magnetic sensor)</a:t>
            </a:r>
          </a:p>
          <a:p>
            <a:pPr lvl="1"/>
            <a:r>
              <a:rPr lang="en-GB" noProof="0" dirty="0"/>
              <a:t>Synchronous: FPGA and sensor share the same clock (they agree on when a bit is valid)</a:t>
            </a:r>
          </a:p>
          <a:p>
            <a:pPr lvl="1"/>
            <a:r>
              <a:rPr lang="en-GB" noProof="0" dirty="0"/>
              <a:t>Serial: bits travel one at a time over a single wire, rather than all at once in parallel.</a:t>
            </a:r>
          </a:p>
          <a:p>
            <a:r>
              <a:rPr lang="en-GB" noProof="0" dirty="0"/>
              <a:t>Purpose: Common protocol for angles between sensor and FPGA.</a:t>
            </a:r>
          </a:p>
          <a:p>
            <a:r>
              <a:rPr lang="en-GB" noProof="0" dirty="0"/>
              <a:t>The three physical signals:</a:t>
            </a:r>
          </a:p>
          <a:p>
            <a:pPr lvl="1"/>
            <a:r>
              <a:rPr lang="en-GB" noProof="0" dirty="0"/>
              <a:t>“</a:t>
            </a:r>
            <a:r>
              <a:rPr lang="en-GB" noProof="0" dirty="0" err="1"/>
              <a:t>sck_o</a:t>
            </a:r>
            <a:r>
              <a:rPr lang="en-GB" noProof="0" dirty="0"/>
              <a:t>”: Serial Clock, generated by the FPGA.</a:t>
            </a:r>
          </a:p>
          <a:p>
            <a:pPr lvl="1"/>
            <a:r>
              <a:rPr lang="en-GB" noProof="0" dirty="0"/>
              <a:t>“</a:t>
            </a:r>
            <a:r>
              <a:rPr lang="en-GB" noProof="0" dirty="0" err="1"/>
              <a:t>data_pin</a:t>
            </a:r>
            <a:r>
              <a:rPr lang="en-GB" noProof="0" dirty="0"/>
              <a:t>”: single wire that carries all actual information. It is bidirectional: The same physical wire is used in both directions, but never simultaneously.</a:t>
            </a:r>
          </a:p>
          <a:p>
            <a:pPr lvl="1"/>
            <a:r>
              <a:rPr lang="en-GB" noProof="0" dirty="0"/>
              <a:t>“</a:t>
            </a:r>
            <a:r>
              <a:rPr lang="en-GB" noProof="0" dirty="0" err="1"/>
              <a:t>csq_o</a:t>
            </a:r>
            <a:r>
              <a:rPr lang="en-GB" noProof="0" dirty="0"/>
              <a:t>”: Tells the sensor when a transaction is beginning and when it is ending. Active low, held low for the entire transaction.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2CAC78-53C4-EB0A-C70D-58A3DCDFD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62FC-E8FF-4D52-8F53-8F2A2A3AD348}" type="datetime1">
              <a:rPr lang="en-GB" noProof="0" smtClean="0"/>
              <a:t>29/05/2026</a:t>
            </a:fld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6832A5-0EC5-3978-AC86-A7C836E4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en-GB" noProof="0" smtClean="0"/>
              <a:t>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14305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0930D-D466-83C4-17C6-830416B9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2. SSC Interface &amp; Sensor – State Diagram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F77DD4-FE53-5564-18EE-28CB3ED3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62FC-E8FF-4D52-8F53-8F2A2A3AD348}" type="datetime1">
              <a:rPr lang="en-GB" noProof="0" smtClean="0"/>
              <a:t>29/05/2026</a:t>
            </a:fld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7009FC-A090-B302-7C03-A2EC6436B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en-GB" noProof="0" smtClean="0"/>
              <a:t>6</a:t>
            </a:fld>
            <a:endParaRPr lang="en-GB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AF94E47-53B3-0681-E92D-A833F5113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420" y="1160351"/>
            <a:ext cx="7177160" cy="481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320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6DFC66-A4F8-A83E-0193-F75B8BE5A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3. PID Loop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C625FDC-3968-21C2-3C5F-CEA6C00D0D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noProof="0" dirty="0"/>
                  <a:t>We have a current 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noProof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GB" noProof="0" dirty="0"/>
                  <a:t> and a target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noProof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noProof="0" dirty="0"/>
                  <a:t>. The PID Loop calculates how the current angle needs to be transformed to arrive at the target angle.</a:t>
                </a:r>
              </a:p>
              <a:p>
                <a:pPr marL="341437" indent="-342900">
                  <a:buFont typeface="+mj-lt"/>
                  <a:buAutoNum type="arabicPeriod"/>
                </a:pPr>
                <a:r>
                  <a:rPr lang="en-GB" noProof="0" dirty="0"/>
                  <a:t>Error Computation:</a:t>
                </a:r>
              </a:p>
              <a:p>
                <a:pPr lvl="1"/>
                <a:r>
                  <a:rPr lang="en-GB" noProof="0" dirty="0"/>
                  <a:t>Consists of three error parts: Proportionality, Integral and Derivative (PID)</a:t>
                </a:r>
              </a:p>
              <a:p>
                <a:pPr lvl="1"/>
                <a:r>
                  <a:rPr lang="en-GB" dirty="0"/>
                  <a:t>Proportionality: </a:t>
                </a:r>
                <a:r>
                  <a:rPr lang="en-GB" dirty="0">
                    <a:highlight>
                      <a:srgbClr val="C0C0C0"/>
                    </a:highlight>
                    <a:latin typeface="Consolas" panose="020B0609020204030204" pitchFamily="49" charset="0"/>
                  </a:rPr>
                  <a:t>error = </a:t>
                </a:r>
                <a:r>
                  <a:rPr lang="en-GB" dirty="0" err="1">
                    <a:highlight>
                      <a:srgbClr val="C0C0C0"/>
                    </a:highlight>
                    <a:latin typeface="Consolas" panose="020B0609020204030204" pitchFamily="49" charset="0"/>
                  </a:rPr>
                  <a:t>angle_raw</a:t>
                </a:r>
                <a:r>
                  <a:rPr lang="en-GB" dirty="0">
                    <a:highlight>
                      <a:srgbClr val="C0C0C0"/>
                    </a:highlight>
                    <a:latin typeface="Consolas" panose="020B0609020204030204" pitchFamily="49" charset="0"/>
                  </a:rPr>
                  <a:t> – angle_0;</a:t>
                </a:r>
              </a:p>
              <a:p>
                <a:pPr lvl="1"/>
                <a:r>
                  <a:rPr lang="en-GB" dirty="0"/>
                  <a:t>Integral: </a:t>
                </a:r>
                <a:r>
                  <a:rPr lang="en-GB" dirty="0" err="1">
                    <a:highlight>
                      <a:srgbClr val="C0C0C0"/>
                    </a:highlight>
                    <a:latin typeface="Consolas" panose="020B0609020204030204" pitchFamily="49" charset="0"/>
                  </a:rPr>
                  <a:t>integral_next</a:t>
                </a:r>
                <a:r>
                  <a:rPr lang="en-GB" dirty="0">
                    <a:highlight>
                      <a:srgbClr val="C0C0C0"/>
                    </a:highlight>
                    <a:latin typeface="Consolas" panose="020B0609020204030204" pitchFamily="49" charset="0"/>
                  </a:rPr>
                  <a:t> = integral – (integral &gt;&gt;&gt; </a:t>
                </a:r>
                <a:r>
                  <a:rPr lang="en-GB" dirty="0" err="1">
                    <a:highlight>
                      <a:srgbClr val="C0C0C0"/>
                    </a:highlight>
                    <a:latin typeface="Consolas" panose="020B0609020204030204" pitchFamily="49" charset="0"/>
                  </a:rPr>
                  <a:t>integral_decay_bits</a:t>
                </a:r>
                <a:r>
                  <a:rPr lang="en-GB" dirty="0">
                    <a:highlight>
                      <a:srgbClr val="C0C0C0"/>
                    </a:highlight>
                    <a:latin typeface="Consolas" panose="020B0609020204030204" pitchFamily="49" charset="0"/>
                  </a:rPr>
                  <a:t>) + error;</a:t>
                </a:r>
              </a:p>
              <a:p>
                <a:pPr lvl="1"/>
                <a:r>
                  <a:rPr lang="en-GB" noProof="0" dirty="0"/>
                  <a:t>Derivative: </a:t>
                </a:r>
                <a:r>
                  <a:rPr lang="en-GB" noProof="0" dirty="0">
                    <a:highlight>
                      <a:srgbClr val="C0C0C0"/>
                    </a:highlight>
                    <a:latin typeface="Consolas" panose="020B0609020204030204" pitchFamily="49" charset="0"/>
                  </a:rPr>
                  <a:t>derivative &lt;= </a:t>
                </a:r>
                <a:r>
                  <a:rPr lang="en-GB" noProof="0" dirty="0" err="1">
                    <a:highlight>
                      <a:srgbClr val="C0C0C0"/>
                    </a:highlight>
                    <a:latin typeface="Consolas" panose="020B0609020204030204" pitchFamily="49" charset="0"/>
                  </a:rPr>
                  <a:t>current_error</a:t>
                </a:r>
                <a:r>
                  <a:rPr lang="en-GB" noProof="0" dirty="0">
                    <a:highlight>
                      <a:srgbClr val="C0C0C0"/>
                    </a:highlight>
                    <a:latin typeface="Consolas" panose="020B0609020204030204" pitchFamily="49" charset="0"/>
                  </a:rPr>
                  <a:t> – error;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dirty="0"/>
                  <a:t>Gain Multiplication (Combinational): </a:t>
                </a:r>
                <a:r>
                  <a:rPr lang="en-GB" dirty="0" err="1"/>
                  <a:t>p_term</a:t>
                </a:r>
                <a:r>
                  <a:rPr lang="en-GB" dirty="0"/>
                  <a:t> ({1’b0, </a:t>
                </a:r>
                <a:r>
                  <a:rPr lang="en-GB" dirty="0" err="1"/>
                  <a:t>K_p</a:t>
                </a:r>
                <a:r>
                  <a:rPr lang="en-GB" dirty="0"/>
                  <a:t>} x error), </a:t>
                </a:r>
                <a:r>
                  <a:rPr lang="en-GB" dirty="0" err="1"/>
                  <a:t>i_term</a:t>
                </a:r>
                <a:r>
                  <a:rPr lang="en-GB" dirty="0"/>
                  <a:t> ({1’b0, </a:t>
                </a:r>
                <a:r>
                  <a:rPr lang="en-GB" dirty="0" err="1"/>
                  <a:t>K_i</a:t>
                </a:r>
                <a:r>
                  <a:rPr lang="en-GB" dirty="0"/>
                  <a:t>} x integral) and </a:t>
                </a:r>
                <a:r>
                  <a:rPr lang="en-GB" dirty="0" err="1"/>
                  <a:t>d_term</a:t>
                </a:r>
                <a:r>
                  <a:rPr lang="en-GB" dirty="0"/>
                  <a:t> ({1’b0, </a:t>
                </a:r>
                <a:r>
                  <a:rPr lang="en-GB" dirty="0" err="1"/>
                  <a:t>K_d</a:t>
                </a:r>
                <a:r>
                  <a:rPr lang="en-GB" dirty="0"/>
                  <a:t>} x error).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GB" noProof="0" dirty="0"/>
                  <a:t>Output:</a:t>
                </a:r>
              </a:p>
              <a:p>
                <a:pPr marL="611063" lvl="1" indent="-342900"/>
                <a:r>
                  <a:rPr lang="en-GB" dirty="0" err="1">
                    <a:highlight>
                      <a:srgbClr val="C0C0C0"/>
                    </a:highlight>
                    <a:latin typeface="Consolas" panose="020B0609020204030204" pitchFamily="49" charset="0"/>
                  </a:rPr>
                  <a:t>correction_direction</a:t>
                </a:r>
                <a:endParaRPr lang="en-GB" dirty="0">
                  <a:highlight>
                    <a:srgbClr val="C0C0C0"/>
                  </a:highlight>
                  <a:latin typeface="Consolas" panose="020B0609020204030204" pitchFamily="49" charset="0"/>
                </a:endParaRPr>
              </a:p>
              <a:p>
                <a:pPr marL="611063" lvl="1" indent="-342900"/>
                <a:r>
                  <a:rPr lang="en-GB" dirty="0" err="1">
                    <a:highlight>
                      <a:srgbClr val="C0C0C0"/>
                    </a:highlight>
                    <a:latin typeface="Consolas" panose="020B0609020204030204" pitchFamily="49" charset="0"/>
                  </a:rPr>
                  <a:t>correction_value</a:t>
                </a:r>
                <a:r>
                  <a:rPr lang="en-GB" dirty="0">
                    <a:highlight>
                      <a:srgbClr val="C0C0C0"/>
                    </a:highlight>
                    <a:latin typeface="Consolas" panose="020B0609020204030204" pitchFamily="49" charset="0"/>
                  </a:rPr>
                  <a:t> [30:0]</a:t>
                </a:r>
              </a:p>
              <a:p>
                <a:pPr marL="611063" lvl="1" indent="-342900"/>
                <a:r>
                  <a:rPr lang="en-GB" dirty="0" err="1">
                    <a:highlight>
                      <a:srgbClr val="C0C0C0"/>
                    </a:highlight>
                    <a:latin typeface="Consolas" panose="020B0609020204030204" pitchFamily="49" charset="0"/>
                  </a:rPr>
                  <a:t>sat_flag</a:t>
                </a:r>
                <a:endParaRPr lang="en-GB" dirty="0">
                  <a:highlight>
                    <a:srgbClr val="C0C0C0"/>
                  </a:highlight>
                  <a:latin typeface="Consolas" panose="020B0609020204030204" pitchFamily="49" charset="0"/>
                </a:endParaRPr>
              </a:p>
              <a:p>
                <a:pPr marL="611063" lvl="1" indent="-342900"/>
                <a:r>
                  <a:rPr lang="en-GB" dirty="0" err="1">
                    <a:highlight>
                      <a:srgbClr val="C0C0C0"/>
                    </a:highlight>
                    <a:latin typeface="Consolas" panose="020B0609020204030204" pitchFamily="49" charset="0"/>
                  </a:rPr>
                  <a:t>done_o</a:t>
                </a:r>
                <a:endParaRPr lang="en-GB" dirty="0">
                  <a:highlight>
                    <a:srgbClr val="C0C0C0"/>
                  </a:highlight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C625FDC-3968-21C2-3C5F-CEA6C00D0D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7" t="-1695" b="-417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49DDE2-6D32-BE7C-1EC1-6D4BF5935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62FC-E8FF-4D52-8F53-8F2A2A3AD348}" type="datetime1">
              <a:rPr lang="en-GB" noProof="0" smtClean="0"/>
              <a:t>29/05/2026</a:t>
            </a:fld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335230-8561-B4D3-07B3-4F66F100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en-GB" noProof="0" smtClean="0"/>
              <a:t>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67768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7C8A63-AA9A-E60D-50B5-2E1EE1F0C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4. Drive Motor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D75535-41D3-20BA-52E4-E1E38456F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The Big Easy Driver (BED)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power </a:t>
            </a:r>
            <a:r>
              <a:rPr lang="de-CH" dirty="0" err="1"/>
              <a:t>electronics</a:t>
            </a:r>
            <a:r>
              <a:rPr lang="de-CH" dirty="0"/>
              <a:t> interface </a:t>
            </a:r>
            <a:r>
              <a:rPr lang="de-CH" dirty="0" err="1"/>
              <a:t>between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FPGA and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stepper</a:t>
            </a:r>
            <a:r>
              <a:rPr lang="de-CH" dirty="0"/>
              <a:t> </a:t>
            </a:r>
            <a:r>
              <a:rPr lang="de-CH" dirty="0" err="1"/>
              <a:t>motor</a:t>
            </a:r>
            <a:r>
              <a:rPr lang="de-CH" dirty="0"/>
              <a:t>. </a:t>
            </a:r>
            <a:r>
              <a:rPr lang="de-CH" dirty="0" err="1"/>
              <a:t>It</a:t>
            </a:r>
            <a:r>
              <a:rPr lang="de-CH" dirty="0"/>
              <a:t> </a:t>
            </a:r>
            <a:r>
              <a:rPr lang="de-CH" dirty="0" err="1"/>
              <a:t>converts</a:t>
            </a:r>
            <a:r>
              <a:rPr lang="de-CH" dirty="0"/>
              <a:t> simple </a:t>
            </a:r>
            <a:r>
              <a:rPr lang="de-CH" dirty="0" err="1"/>
              <a:t>instructions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FPGA </a:t>
            </a:r>
            <a:r>
              <a:rPr lang="de-CH" dirty="0" err="1"/>
              <a:t>into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coils</a:t>
            </a:r>
            <a:r>
              <a:rPr lang="de-CH" dirty="0"/>
              <a:t>’ </a:t>
            </a:r>
            <a:r>
              <a:rPr lang="de-CH" dirty="0" err="1"/>
              <a:t>current</a:t>
            </a:r>
            <a:r>
              <a:rPr lang="de-CH" dirty="0"/>
              <a:t> </a:t>
            </a:r>
            <a:r>
              <a:rPr lang="de-CH" dirty="0" err="1"/>
              <a:t>signal</a:t>
            </a:r>
            <a:r>
              <a:rPr lang="de-CH" dirty="0"/>
              <a:t> </a:t>
            </a:r>
            <a:r>
              <a:rPr lang="de-CH" dirty="0" err="1"/>
              <a:t>required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rotate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stepper</a:t>
            </a:r>
            <a:r>
              <a:rPr lang="de-CH" dirty="0"/>
              <a:t> </a:t>
            </a:r>
            <a:r>
              <a:rPr lang="de-CH" dirty="0" err="1"/>
              <a:t>motor</a:t>
            </a:r>
            <a:r>
              <a:rPr lang="de-CH" dirty="0"/>
              <a:t>.</a:t>
            </a:r>
          </a:p>
          <a:p>
            <a:r>
              <a:rPr lang="de-CH" dirty="0"/>
              <a:t>The FPGA </a:t>
            </a:r>
            <a:r>
              <a:rPr lang="de-CH" dirty="0" err="1"/>
              <a:t>only</a:t>
            </a:r>
            <a:r>
              <a:rPr lang="de-CH" dirty="0"/>
              <a:t> </a:t>
            </a:r>
            <a:r>
              <a:rPr lang="de-CH" dirty="0" err="1"/>
              <a:t>needs</a:t>
            </a:r>
            <a:r>
              <a:rPr lang="de-CH" dirty="0"/>
              <a:t> </a:t>
            </a:r>
            <a:r>
              <a:rPr lang="de-CH" dirty="0" err="1"/>
              <a:t>to</a:t>
            </a:r>
            <a:r>
              <a:rPr lang="de-CH" dirty="0"/>
              <a:t> send </a:t>
            </a:r>
            <a:r>
              <a:rPr lang="de-CH" dirty="0" err="1"/>
              <a:t>two</a:t>
            </a:r>
            <a:r>
              <a:rPr lang="de-CH" dirty="0"/>
              <a:t> </a:t>
            </a:r>
            <a:r>
              <a:rPr lang="de-CH" dirty="0" err="1"/>
              <a:t>signals</a:t>
            </a:r>
            <a:r>
              <a:rPr lang="de-CH" dirty="0"/>
              <a:t>: STEP (</a:t>
            </a:r>
            <a:r>
              <a:rPr lang="de-CH" dirty="0" err="1"/>
              <a:t>one</a:t>
            </a:r>
            <a:r>
              <a:rPr lang="de-CH" dirty="0"/>
              <a:t> pulse = </a:t>
            </a:r>
            <a:r>
              <a:rPr lang="de-CH" dirty="0" err="1"/>
              <a:t>one</a:t>
            </a:r>
            <a:r>
              <a:rPr lang="de-CH" dirty="0"/>
              <a:t> </a:t>
            </a:r>
            <a:r>
              <a:rPr lang="de-CH" dirty="0" err="1"/>
              <a:t>step</a:t>
            </a:r>
            <a:r>
              <a:rPr lang="de-CH" dirty="0"/>
              <a:t>) and DIR (high: CCW, </a:t>
            </a:r>
            <a:r>
              <a:rPr lang="de-CH" dirty="0" err="1"/>
              <a:t>low</a:t>
            </a:r>
            <a:r>
              <a:rPr lang="de-CH" dirty="0"/>
              <a:t>: CW)</a:t>
            </a:r>
          </a:p>
          <a:p>
            <a:r>
              <a:rPr lang="de-CH" dirty="0" err="1"/>
              <a:t>We</a:t>
            </a:r>
            <a:r>
              <a:rPr lang="de-CH" dirty="0"/>
              <a:t> do </a:t>
            </a:r>
            <a:r>
              <a:rPr lang="de-CH" dirty="0" err="1"/>
              <a:t>this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setting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frequency</a:t>
            </a:r>
            <a:r>
              <a:rPr lang="de-CH" dirty="0"/>
              <a:t> of STEPs</a:t>
            </a:r>
          </a:p>
          <a:p>
            <a:r>
              <a:rPr lang="de-CH" dirty="0"/>
              <a:t>Power </a:t>
            </a:r>
            <a:r>
              <a:rPr lang="de-CH" dirty="0" err="1"/>
              <a:t>supply</a:t>
            </a:r>
            <a:r>
              <a:rPr lang="de-CH" dirty="0"/>
              <a:t> </a:t>
            </a:r>
            <a:r>
              <a:rPr lang="de-CH" dirty="0" err="1"/>
              <a:t>of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motor</a:t>
            </a:r>
            <a:r>
              <a:rPr lang="de-CH" dirty="0"/>
              <a:t>:</a:t>
            </a:r>
          </a:p>
          <a:p>
            <a:pPr lvl="1"/>
            <a:r>
              <a:rPr lang="de-CH" dirty="0"/>
              <a:t>Motor </a:t>
            </a:r>
            <a:r>
              <a:rPr lang="de-CH" dirty="0" err="1"/>
              <a:t>Voltage</a:t>
            </a:r>
            <a:r>
              <a:rPr lang="de-CH" dirty="0"/>
              <a:t>: 24 V DC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E6136B-6315-AC87-DD65-E96923D9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62FC-E8FF-4D52-8F53-8F2A2A3AD348}" type="datetime1">
              <a:rPr lang="de-CH" noProof="0" smtClean="0"/>
              <a:t>29.05.2026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589D5D-5E51-DF11-2F4B-6AB31A8D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8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803970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23C457-F235-5EC0-22EA-4121F6555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4. Motor Driver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DAADD2-9885-3B0A-B3B4-A01AC29A6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62FC-E8FF-4D52-8F53-8F2A2A3AD348}" type="datetime1">
              <a:rPr lang="de-CH" noProof="0" smtClean="0"/>
              <a:t>29.05.2026</a:t>
            </a:fld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CB8CEC-3190-411E-1DC1-34DE85610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9</a:t>
            </a:fld>
            <a:endParaRPr lang="de-CH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53C771E-0CBA-CDAD-9BD6-601A37113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624" y="951613"/>
            <a:ext cx="8868750" cy="495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3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FE22A1-56F7-4FF9-8A90-D307E6733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5. Conclusion and Outlook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BD7DC3-17C3-4B09-9D8E-F143A82B2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The project offered an interesting and manifold challenge.</a:t>
            </a:r>
          </a:p>
          <a:p>
            <a:r>
              <a:rPr lang="en-GB" dirty="0"/>
              <a:t>It included not only coding, but also engineering tasks.</a:t>
            </a:r>
          </a:p>
          <a:p>
            <a:r>
              <a:rPr lang="en-GB" noProof="0" dirty="0"/>
              <a:t>Many things had to be tested and determined empirically (such as constants from PID loop).</a:t>
            </a:r>
          </a:p>
          <a:p>
            <a:r>
              <a:rPr lang="en-GB" dirty="0"/>
              <a:t>We learned a lot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GB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DB7874-B99C-4F6D-A86D-EA0EE8CA0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8B327-839C-4A2D-B2E8-7E49B2F41E4B}" type="datetime1">
              <a:rPr lang="en-GB" noProof="0" smtClean="0"/>
              <a:t>29/05/2026</a:t>
            </a:fld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20278B-D74F-421E-A3BD-EC66D5837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en-GB" noProof="0" smtClean="0"/>
              <a:t>10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77112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CEE016-24CD-6158-0C42-3FBDA4AE9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Demonstration from YouTube</a:t>
            </a:r>
          </a:p>
        </p:txBody>
      </p:sp>
      <p:pic>
        <p:nvPicPr>
          <p:cNvPr id="7" name="Onlinemedien 6">
            <a:hlinkClick r:id="" action="ppaction://media"/>
            <a:extLst>
              <a:ext uri="{FF2B5EF4-FFF2-40B4-BE49-F238E27FC236}">
                <a16:creationId xmlns:a16="http://schemas.microsoft.com/office/drawing/2014/main" id="{C1D67418-755B-127C-7728-1F23DF167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954213" y="1162715"/>
            <a:ext cx="8283575" cy="4679950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3C7FC3-C8E8-6611-DB61-491E8E769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1D6AC-3BAC-4A50-9479-1E7CD895A648}" type="datetime1">
              <a:rPr lang="en-GB" noProof="0" smtClean="0"/>
              <a:t>29/05/2026</a:t>
            </a:fld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F344AC-A05B-27B7-F466-3BB7C605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en-GB" noProof="0" smtClean="0"/>
              <a:t>11</a:t>
            </a:fld>
            <a:endParaRPr lang="en-GB" noProof="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3105EE4-336F-BC74-5EEF-A672528549A2}"/>
              </a:ext>
            </a:extLst>
          </p:cNvPr>
          <p:cNvSpPr txBox="1"/>
          <p:nvPr/>
        </p:nvSpPr>
        <p:spPr>
          <a:xfrm>
            <a:off x="1954212" y="5842665"/>
            <a:ext cx="3104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/>
              <a:t>Source: Ben Katz (YouTube)</a:t>
            </a:r>
          </a:p>
        </p:txBody>
      </p:sp>
    </p:spTree>
    <p:extLst>
      <p:ext uri="{BB962C8B-B14F-4D97-AF65-F5344CB8AC3E}">
        <p14:creationId xmlns:p14="http://schemas.microsoft.com/office/powerpoint/2010/main" val="354857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Präsentation2" id="{1321EF9B-D0C2-B940-BAF0-923936C95B7C}" vid="{0165591E-D8AE-AE49-AAAE-F458C46D785B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eth_pp_praesentation_mit_klassifizierung</Template>
  <TotalTime>0</TotalTime>
  <Words>591</Words>
  <Application>Microsoft Office PowerPoint</Application>
  <PresentationFormat>Widescreen</PresentationFormat>
  <Paragraphs>83</Paragraphs>
  <Slides>11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Cambria Math</vt:lpstr>
      <vt:lpstr>Consolas</vt:lpstr>
      <vt:lpstr>Symbol</vt:lpstr>
      <vt:lpstr>Wingdings</vt:lpstr>
      <vt:lpstr>ETH Zürich</vt:lpstr>
      <vt:lpstr>Furuta Pendulum</vt:lpstr>
      <vt:lpstr>Agenda</vt:lpstr>
      <vt:lpstr>1. Project Overview</vt:lpstr>
      <vt:lpstr>1. Project Overview</vt:lpstr>
      <vt:lpstr>2. SSC Interface &amp; Sensor</vt:lpstr>
      <vt:lpstr>2. SSC Interface &amp; Sensor – State Diagram</vt:lpstr>
      <vt:lpstr>3. PID Loop</vt:lpstr>
      <vt:lpstr>4. Drive Motor</vt:lpstr>
      <vt:lpstr>4. Motor Driver</vt:lpstr>
      <vt:lpstr>5. Conclusion and Outlook</vt:lpstr>
      <vt:lpstr>Demonstration from YouTube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 Fe</dc:creator>
  <cp:lastModifiedBy>Nicola Rupf</cp:lastModifiedBy>
  <cp:revision>77</cp:revision>
  <dcterms:created xsi:type="dcterms:W3CDTF">2026-05-24T12:08:55Z</dcterms:created>
  <dcterms:modified xsi:type="dcterms:W3CDTF">2026-05-29T08:35:33Z</dcterms:modified>
</cp:coreProperties>
</file>