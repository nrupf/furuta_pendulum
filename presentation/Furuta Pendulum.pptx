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65" r:id="rId2"/>
    <p:sldId id="261" r:id="rId3"/>
    <p:sldId id="266" r:id="rId4"/>
    <p:sldId id="267" r:id="rId5"/>
    <p:sldId id="269" r:id="rId6"/>
    <p:sldId id="270" r:id="rId7"/>
    <p:sldId id="271" r:id="rId8"/>
    <p:sldId id="272" r:id="rId9"/>
    <p:sldId id="268" r:id="rId10"/>
    <p:sldId id="263" r:id="rId11"/>
    <p:sldId id="264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A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81840" autoAdjust="0"/>
  </p:normalViewPr>
  <p:slideViewPr>
    <p:cSldViewPr snapToGrid="0" showGuides="1">
      <p:cViewPr varScale="1">
        <p:scale>
          <a:sx n="90" d="100"/>
          <a:sy n="90" d="100"/>
        </p:scale>
        <p:origin x="1392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12" d="100"/>
          <a:sy n="112" d="100"/>
        </p:scale>
        <p:origin x="4773" y="39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AF70A90-CA7E-49EB-AB17-C37FEDD0759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A7711EA-1FBE-4E98-9D43-C2D65C45D0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8ABEA4-9216-4FDF-AAE1-D8632908A8EC}" type="datetimeFigureOut">
              <a:rPr lang="de-CH" smtClean="0"/>
              <a:t>25.05.2026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CCD3C8-8930-4E0E-A891-B770724F2B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798FB5-86BC-42DA-9D05-F96D484814F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685DCD-866D-47AE-A236-118539F5337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272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A90D-FE7E-41AF-B03D-808D82937CB9}" type="datetimeFigureOut">
              <a:rPr lang="de-CH" smtClean="0"/>
              <a:t>25.05.2026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5DDFD-030C-4D5A-B33E-3A7E7538D2B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4149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GMR = Giant </a:t>
            </a:r>
            <a:r>
              <a:rPr lang="de-CH" dirty="0" err="1"/>
              <a:t>MagnetoResistance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037090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3312000"/>
          </a:xfrm>
          <a:solidFill>
            <a:schemeClr val="accent1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3C296D1-2CD0-479F-A866-6EC741D2293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41BE31-9613-4103-99FF-7DCFF643B3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4"/>
            <a:ext cx="4680000" cy="1440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DE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DEB298C-798E-4D73-9DD6-F896C0653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 dirty="0"/>
              <a:t>Organisationseinheit verbal</a:t>
            </a:r>
            <a:br>
              <a:rPr lang="de-DE" dirty="0"/>
            </a:br>
            <a:r>
              <a:rPr lang="de-DE" dirty="0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4293381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  <p15:guide id="3" orient="horz" pos="640" userDrawn="1">
          <p15:clr>
            <a:srgbClr val="FBAE40"/>
          </p15:clr>
        </p15:guide>
        <p15:guide id="4" orient="horz" pos="3952" userDrawn="1">
          <p15:clr>
            <a:srgbClr val="FBAE40"/>
          </p15:clr>
        </p15:guide>
        <p15:guide id="5" pos="610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A01615F-450E-43D0-B554-DA3FBD48DF3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0" tIns="0" rIns="558000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4000" y="2957494"/>
            <a:ext cx="5688000" cy="2268000"/>
          </a:xfrm>
          <a:solidFill>
            <a:schemeClr val="accent6"/>
          </a:solidFill>
        </p:spPr>
        <p:txBody>
          <a:bodyPr lIns="324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03A487C-8977-4264-A8A1-D6C1DB6046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45210" y="4639666"/>
            <a:ext cx="4320000" cy="46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E91D3734-CD8F-4F94-A813-570EF31C473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547D2927-4A99-4714-8EBA-F773EAA263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 dirty="0"/>
              <a:t>Organisationseinheit verbal</a:t>
            </a:r>
            <a:br>
              <a:rPr lang="de-DE" dirty="0"/>
            </a:br>
            <a:r>
              <a:rPr lang="de-DE" dirty="0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100241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2D94F76-218E-49F2-87F8-05982912ED18}"/>
              </a:ext>
            </a:extLst>
          </p:cNvPr>
          <p:cNvSpPr/>
          <p:nvPr userDrawn="1"/>
        </p:nvSpPr>
        <p:spPr>
          <a:xfrm>
            <a:off x="731838" y="1016000"/>
            <a:ext cx="10728325" cy="525780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940405"/>
            <a:ext cx="10188000" cy="3960000"/>
          </a:xfrm>
          <a:solidFill>
            <a:schemeClr val="accent3"/>
          </a:solidFill>
          <a:ln>
            <a:noFill/>
          </a:ln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0503E57F-F89F-431B-8D38-7CC97B7C2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4217884"/>
            <a:ext cx="8640000" cy="1440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1BEB6197-C509-4752-B57E-CEE955F5D92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4ADF7DEC-21BD-45CA-9E91-B9F58A69F6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 dirty="0"/>
              <a:t>Organisationseinheit verbal</a:t>
            </a:r>
            <a:br>
              <a:rPr lang="de-DE" dirty="0"/>
            </a:br>
            <a:r>
              <a:rPr lang="de-DE" dirty="0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392406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837" y="1016000"/>
            <a:ext cx="10728326" cy="5256000"/>
          </a:xfrm>
          <a:solidFill>
            <a:schemeClr val="accent6"/>
          </a:solidFill>
          <a:ln>
            <a:noFill/>
          </a:ln>
        </p:spPr>
        <p:txBody>
          <a:bodyPr lIns="324000" tIns="11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5FCAD79B-EF47-46A0-9575-229F3DAA72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5" y="4575276"/>
            <a:ext cx="10044000" cy="1440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72236FC6-C8FF-43C1-86B9-BF112345926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789A3267-E086-4EC3-A0BB-F8ECD01A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 dirty="0"/>
              <a:t>Organisationseinheit verbal</a:t>
            </a:r>
            <a:br>
              <a:rPr lang="de-DE" dirty="0"/>
            </a:br>
            <a:r>
              <a:rPr lang="de-DE" dirty="0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732532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 – Uni Zür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3312000"/>
          </a:xfrm>
          <a:solidFill>
            <a:schemeClr val="accent2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93E2EDD-B19F-478D-BB03-AD55EC1E86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7672" y="228020"/>
            <a:ext cx="3679200" cy="552508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D364BCB8-820F-4C3A-BA37-7048A4C8D4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440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A73913C2-8DFE-4F15-B2DB-2A6D5C267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791A1AD7-DB7D-4C75-BEFB-EB6D34D3B2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 dirty="0"/>
              <a:t>Organisationseinheit verbal</a:t>
            </a:r>
            <a:br>
              <a:rPr lang="de-DE" dirty="0"/>
            </a:br>
            <a:r>
              <a:rPr lang="de-DE" dirty="0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789257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39750" indent="-539750">
              <a:buFont typeface="+mj-lt"/>
              <a:buAutoNum type="arabicPeriod"/>
              <a:defRPr/>
            </a:lvl1pPr>
            <a:lvl2pPr marL="1079500" indent="-539750">
              <a:buFont typeface="+mj-lt"/>
              <a:buAutoNum type="arabicPeriod"/>
              <a:defRPr/>
            </a:lvl2pPr>
            <a:lvl3pPr marL="1612900" indent="-533400">
              <a:buFont typeface="+mj-lt"/>
              <a:buAutoNum type="arabicPeriod"/>
              <a:defRPr/>
            </a:lvl3pPr>
            <a:lvl4pPr marL="2152650" indent="-539750">
              <a:buFont typeface="+mj-lt"/>
              <a:buAutoNum type="arabicPeriod"/>
              <a:defRPr/>
            </a:lvl4pPr>
            <a:lvl5pPr marL="2692400" indent="-539750">
              <a:buFont typeface="+mj-lt"/>
              <a:buAutoNum type="arabicPeriod"/>
              <a:defRPr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1D6AC-3BAC-4A50-9479-1E7CD895A648}" type="datetime1">
              <a:rPr lang="de-CH" noProof="0" smtClean="0"/>
              <a:t>25.05.2026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71700" y="6522444"/>
            <a:ext cx="7200000" cy="216000"/>
          </a:xfrm>
        </p:spPr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9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162FC-E8FF-4D52-8F53-8F2A2A3AD348}" type="datetime1">
              <a:rPr lang="de-CH" noProof="0" smtClean="0"/>
              <a:t>25.05.2026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Fuss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5A3C0-7A2F-4A62-9057-882FB8F5659A}" type="datetime1">
              <a:rPr lang="de-CH" noProof="0" smtClean="0"/>
              <a:t>25.05.2026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F6D94FA-21C6-4AE0-AA4F-3A077810ED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836" y="5570135"/>
            <a:ext cx="5364164" cy="721233"/>
          </a:xfrm>
        </p:spPr>
        <p:txBody>
          <a:bodyPr anchor="b" anchorCtr="0"/>
          <a:lstStyle>
            <a:lvl1pPr marL="179388" indent="-179388">
              <a:spcBef>
                <a:spcPts val="0"/>
              </a:spcBef>
              <a:buFont typeface="+mj-lt"/>
              <a:buAutoNum type="arabicPeriod"/>
              <a:defRPr sz="800"/>
            </a:lvl1pPr>
            <a:lvl2pPr marL="266700" indent="0">
              <a:buNone/>
              <a:defRPr sz="800"/>
            </a:lvl2pPr>
            <a:lvl3pPr marL="538163" indent="0">
              <a:buNone/>
              <a:defRPr sz="800"/>
            </a:lvl3pPr>
            <a:lvl4pPr marL="804862" indent="0">
              <a:buNone/>
              <a:defRPr sz="800"/>
            </a:lvl4pPr>
            <a:lvl5pPr marL="1076325" indent="0">
              <a:buNone/>
              <a:defRPr sz="800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6001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224781"/>
            <a:ext cx="10728325" cy="1260000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923CAD-8964-4A8E-9E9C-0F755B932903}" type="datetime1">
              <a:rPr lang="de-CH" noProof="0" smtClean="0"/>
              <a:t>25.05.2026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‹Nr.›</a:t>
            </a:fld>
            <a:endParaRPr lang="de-CH" noProof="0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GrpSpPr/>
          <p:nvPr/>
        </p:nvGrpSpPr>
        <p:grpSpPr>
          <a:xfrm>
            <a:off x="731837" y="6507088"/>
            <a:ext cx="984462" cy="162000"/>
            <a:chOff x="731837" y="6507088"/>
            <a:chExt cx="984462" cy="162000"/>
          </a:xfrm>
          <a:solidFill>
            <a:schemeClr val="bg1"/>
          </a:solidFill>
        </p:grpSpPr>
        <p:grpSp>
          <p:nvGrpSpPr>
            <p:cNvPr id="12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266489" y="6555186"/>
              <a:ext cx="197463" cy="110963"/>
              <a:chOff x="1266489" y="6555186"/>
              <a:chExt cx="197463" cy="110963"/>
            </a:xfrm>
            <a:grpFill/>
          </p:grpSpPr>
          <p:sp>
            <p:nvSpPr>
              <p:cNvPr id="13" name="Freihandform: Form 12">
                <a:extLst>
                  <a:ext uri="{FF2B5EF4-FFF2-40B4-BE49-F238E27FC236}">
                    <a16:creationId xmlns:a16="http://schemas.microsoft.com/office/drawing/2014/main" id="{18BB0752-F87C-44D9-A9A5-97AF1DEDA1AE}"/>
                  </a:ext>
                </a:extLst>
              </p:cNvPr>
              <p:cNvSpPr/>
              <p:nvPr/>
            </p:nvSpPr>
            <p:spPr>
              <a:xfrm>
                <a:off x="1266489" y="6556934"/>
                <a:ext cx="95902" cy="109216"/>
              </a:xfrm>
              <a:custGeom>
                <a:avLst/>
                <a:gdLst>
                  <a:gd name="connsiteX0" fmla="*/ 66742 w 95902"/>
                  <a:gd name="connsiteY0" fmla="*/ 65797 h 109216"/>
                  <a:gd name="connsiteX1" fmla="*/ 35339 w 95902"/>
                  <a:gd name="connsiteY1" fmla="*/ 95082 h 109216"/>
                  <a:gd name="connsiteX2" fmla="*/ 15953 w 95902"/>
                  <a:gd name="connsiteY2" fmla="*/ 79537 h 109216"/>
                  <a:gd name="connsiteX3" fmla="*/ 15899 w 95902"/>
                  <a:gd name="connsiteY3" fmla="*/ 76265 h 109216"/>
                  <a:gd name="connsiteX4" fmla="*/ 16896 w 95902"/>
                  <a:gd name="connsiteY4" fmla="*/ 66295 h 109216"/>
                  <a:gd name="connsiteX5" fmla="*/ 30230 w 95902"/>
                  <a:gd name="connsiteY5" fmla="*/ 0 h 109216"/>
                  <a:gd name="connsiteX6" fmla="*/ 30230 w 95902"/>
                  <a:gd name="connsiteY6" fmla="*/ 0 h 109216"/>
                  <a:gd name="connsiteX7" fmla="*/ 14528 w 95902"/>
                  <a:gd name="connsiteY7" fmla="*/ 0 h 109216"/>
                  <a:gd name="connsiteX8" fmla="*/ 1194 w 95902"/>
                  <a:gd name="connsiteY8" fmla="*/ 67791 h 109216"/>
                  <a:gd name="connsiteX9" fmla="*/ 1194 w 95902"/>
                  <a:gd name="connsiteY9" fmla="*/ 68788 h 109216"/>
                  <a:gd name="connsiteX10" fmla="*/ 73 w 95902"/>
                  <a:gd name="connsiteY10" fmla="*/ 78508 h 109216"/>
                  <a:gd name="connsiteX11" fmla="*/ 26638 w 95902"/>
                  <a:gd name="connsiteY11" fmla="*/ 109122 h 109216"/>
                  <a:gd name="connsiteX12" fmla="*/ 29980 w 95902"/>
                  <a:gd name="connsiteY12" fmla="*/ 109163 h 109216"/>
                  <a:gd name="connsiteX13" fmla="*/ 61384 w 95902"/>
                  <a:gd name="connsiteY13" fmla="*/ 96702 h 109216"/>
                  <a:gd name="connsiteX14" fmla="*/ 59265 w 95902"/>
                  <a:gd name="connsiteY14" fmla="*/ 107917 h 109216"/>
                  <a:gd name="connsiteX15" fmla="*/ 59265 w 95902"/>
                  <a:gd name="connsiteY15" fmla="*/ 107917 h 109216"/>
                  <a:gd name="connsiteX16" fmla="*/ 74842 w 95902"/>
                  <a:gd name="connsiteY16" fmla="*/ 107917 h 109216"/>
                  <a:gd name="connsiteX17" fmla="*/ 95902 w 95902"/>
                  <a:gd name="connsiteY17" fmla="*/ 0 h 109216"/>
                  <a:gd name="connsiteX18" fmla="*/ 95902 w 95902"/>
                  <a:gd name="connsiteY18" fmla="*/ 0 h 109216"/>
                  <a:gd name="connsiteX19" fmla="*/ 79951 w 95902"/>
                  <a:gd name="connsiteY19" fmla="*/ 0 h 109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4" name="Freihandform: Form 13">
                <a:extLst>
                  <a:ext uri="{FF2B5EF4-FFF2-40B4-BE49-F238E27FC236}">
                    <a16:creationId xmlns:a16="http://schemas.microsoft.com/office/drawing/2014/main" id="{ED44DE23-7081-4AC9-BF06-502BEC71C004}"/>
                  </a:ext>
                </a:extLst>
              </p:cNvPr>
              <p:cNvSpPr/>
              <p:nvPr/>
            </p:nvSpPr>
            <p:spPr>
              <a:xfrm>
                <a:off x="1376472" y="6555186"/>
                <a:ext cx="87480" cy="109664"/>
              </a:xfrm>
              <a:custGeom>
                <a:avLst/>
                <a:gdLst>
                  <a:gd name="connsiteX0" fmla="*/ 64302 w 87480"/>
                  <a:gd name="connsiteY0" fmla="*/ 3 h 109664"/>
                  <a:gd name="connsiteX1" fmla="*/ 34518 w 87480"/>
                  <a:gd name="connsiteY1" fmla="*/ 14209 h 109664"/>
                  <a:gd name="connsiteX2" fmla="*/ 36886 w 87480"/>
                  <a:gd name="connsiteY2" fmla="*/ 1747 h 109664"/>
                  <a:gd name="connsiteX3" fmla="*/ 36886 w 87480"/>
                  <a:gd name="connsiteY3" fmla="*/ 1747 h 109664"/>
                  <a:gd name="connsiteX4" fmla="*/ 21434 w 87480"/>
                  <a:gd name="connsiteY4" fmla="*/ 1747 h 109664"/>
                  <a:gd name="connsiteX5" fmla="*/ 0 w 87480"/>
                  <a:gd name="connsiteY5" fmla="*/ 109664 h 109664"/>
                  <a:gd name="connsiteX6" fmla="*/ 0 w 87480"/>
                  <a:gd name="connsiteY6" fmla="*/ 109664 h 109664"/>
                  <a:gd name="connsiteX7" fmla="*/ 15826 w 87480"/>
                  <a:gd name="connsiteY7" fmla="*/ 109664 h 109664"/>
                  <a:gd name="connsiteX8" fmla="*/ 28288 w 87480"/>
                  <a:gd name="connsiteY8" fmla="*/ 43493 h 109664"/>
                  <a:gd name="connsiteX9" fmla="*/ 59940 w 87480"/>
                  <a:gd name="connsiteY9" fmla="*/ 14209 h 109664"/>
                  <a:gd name="connsiteX10" fmla="*/ 75019 w 87480"/>
                  <a:gd name="connsiteY10" fmla="*/ 21810 h 109664"/>
                  <a:gd name="connsiteX11" fmla="*/ 75019 w 87480"/>
                  <a:gd name="connsiteY11" fmla="*/ 21810 h 109664"/>
                  <a:gd name="connsiteX12" fmla="*/ 87480 w 87480"/>
                  <a:gd name="connsiteY12" fmla="*/ 10346 h 109664"/>
                  <a:gd name="connsiteX13" fmla="*/ 87480 w 87480"/>
                  <a:gd name="connsiteY13" fmla="*/ 10346 h 109664"/>
                  <a:gd name="connsiteX14" fmla="*/ 63928 w 87480"/>
                  <a:gd name="connsiteY14" fmla="*/ 252 h 109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18C24FD2-AEE2-43CA-8EB3-8E646C2E5E46}"/>
                </a:ext>
              </a:extLst>
            </p:cNvPr>
            <p:cNvSpPr/>
            <p:nvPr/>
          </p:nvSpPr>
          <p:spPr>
            <a:xfrm>
              <a:off x="1159517" y="6556560"/>
              <a:ext cx="96452" cy="108166"/>
            </a:xfrm>
            <a:custGeom>
              <a:avLst/>
              <a:gdLst>
                <a:gd name="connsiteX0" fmla="*/ 23303 w 96452"/>
                <a:gd name="connsiteY0" fmla="*/ 0 h 108166"/>
                <a:gd name="connsiteX1" fmla="*/ 20562 w 96452"/>
                <a:gd name="connsiteY1" fmla="*/ 13708 h 108166"/>
                <a:gd name="connsiteX2" fmla="*/ 20562 w 96452"/>
                <a:gd name="connsiteY2" fmla="*/ 13957 h 108166"/>
                <a:gd name="connsiteX3" fmla="*/ 74271 w 96452"/>
                <a:gd name="connsiteY3" fmla="*/ 13957 h 108166"/>
                <a:gd name="connsiteX4" fmla="*/ 2742 w 96452"/>
                <a:gd name="connsiteY4" fmla="*/ 94957 h 108166"/>
                <a:gd name="connsiteX5" fmla="*/ 2617 w 96452"/>
                <a:gd name="connsiteY5" fmla="*/ 94957 h 108166"/>
                <a:gd name="connsiteX6" fmla="*/ 0 w 96452"/>
                <a:gd name="connsiteY6" fmla="*/ 108166 h 108166"/>
                <a:gd name="connsiteX7" fmla="*/ 76265 w 96452"/>
                <a:gd name="connsiteY7" fmla="*/ 108166 h 108166"/>
                <a:gd name="connsiteX8" fmla="*/ 79006 w 96452"/>
                <a:gd name="connsiteY8" fmla="*/ 94209 h 108166"/>
                <a:gd name="connsiteX9" fmla="*/ 21932 w 96452"/>
                <a:gd name="connsiteY9" fmla="*/ 94209 h 108166"/>
                <a:gd name="connsiteX10" fmla="*/ 93835 w 96452"/>
                <a:gd name="connsiteY10" fmla="*/ 13209 h 108166"/>
                <a:gd name="connsiteX11" fmla="*/ 93835 w 96452"/>
                <a:gd name="connsiteY11" fmla="*/ 13209 h 108166"/>
                <a:gd name="connsiteX12" fmla="*/ 96452 w 96452"/>
                <a:gd name="connsiteY12" fmla="*/ 0 h 108166"/>
                <a:gd name="connsiteX13" fmla="*/ 23303 w 96452"/>
                <a:gd name="connsiteY13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EE7F6F4-4D2C-45B3-A061-9606B2BD36A7}"/>
                </a:ext>
              </a:extLst>
            </p:cNvPr>
            <p:cNvSpPr/>
            <p:nvPr/>
          </p:nvSpPr>
          <p:spPr>
            <a:xfrm>
              <a:off x="1466445" y="6556560"/>
              <a:ext cx="37259" cy="108166"/>
            </a:xfrm>
            <a:custGeom>
              <a:avLst/>
              <a:gdLst>
                <a:gd name="connsiteX0" fmla="*/ 21683 w 37259"/>
                <a:gd name="connsiteY0" fmla="*/ 0 h 108166"/>
                <a:gd name="connsiteX1" fmla="*/ 0 w 37259"/>
                <a:gd name="connsiteY1" fmla="*/ 107917 h 108166"/>
                <a:gd name="connsiteX2" fmla="*/ 0 w 37259"/>
                <a:gd name="connsiteY2" fmla="*/ 108166 h 108166"/>
                <a:gd name="connsiteX3" fmla="*/ 15702 w 37259"/>
                <a:gd name="connsiteY3" fmla="*/ 108166 h 108166"/>
                <a:gd name="connsiteX4" fmla="*/ 37260 w 37259"/>
                <a:gd name="connsiteY4" fmla="*/ 0 h 108166"/>
                <a:gd name="connsiteX5" fmla="*/ 21683 w 37259"/>
                <a:gd name="connsiteY5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grpSp>
          <p:nvGrpSpPr>
            <p:cNvPr id="17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518879" y="6507337"/>
              <a:ext cx="191395" cy="158803"/>
              <a:chOff x="1518879" y="6507337"/>
              <a:chExt cx="191395" cy="158803"/>
            </a:xfrm>
            <a:grpFill/>
          </p:grpSpPr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B2186F78-5D28-4695-8B1C-5A3F1A53AAB3}"/>
                  </a:ext>
                </a:extLst>
              </p:cNvPr>
              <p:cNvSpPr/>
              <p:nvPr/>
            </p:nvSpPr>
            <p:spPr>
              <a:xfrm>
                <a:off x="1614114" y="6507337"/>
                <a:ext cx="96160" cy="157638"/>
              </a:xfrm>
              <a:custGeom>
                <a:avLst/>
                <a:gdLst>
                  <a:gd name="connsiteX0" fmla="*/ 66046 w 96160"/>
                  <a:gd name="connsiteY0" fmla="*/ 47852 h 157638"/>
                  <a:gd name="connsiteX1" fmla="*/ 35142 w 96160"/>
                  <a:gd name="connsiteY1" fmla="*/ 60314 h 157638"/>
                  <a:gd name="connsiteX2" fmla="*/ 47603 w 96160"/>
                  <a:gd name="connsiteY2" fmla="*/ 0 h 157638"/>
                  <a:gd name="connsiteX3" fmla="*/ 31652 w 96160"/>
                  <a:gd name="connsiteY3" fmla="*/ 0 h 157638"/>
                  <a:gd name="connsiteX4" fmla="*/ 0 w 96160"/>
                  <a:gd name="connsiteY4" fmla="*/ 157389 h 157638"/>
                  <a:gd name="connsiteX5" fmla="*/ 15701 w 96160"/>
                  <a:gd name="connsiteY5" fmla="*/ 157389 h 157638"/>
                  <a:gd name="connsiteX6" fmla="*/ 28911 w 96160"/>
                  <a:gd name="connsiteY6" fmla="*/ 91218 h 157638"/>
                  <a:gd name="connsiteX7" fmla="*/ 60563 w 96160"/>
                  <a:gd name="connsiteY7" fmla="*/ 62058 h 157638"/>
                  <a:gd name="connsiteX8" fmla="*/ 79837 w 96160"/>
                  <a:gd name="connsiteY8" fmla="*/ 77742 h 157638"/>
                  <a:gd name="connsiteX9" fmla="*/ 79878 w 96160"/>
                  <a:gd name="connsiteY9" fmla="*/ 80875 h 157638"/>
                  <a:gd name="connsiteX10" fmla="*/ 78757 w 96160"/>
                  <a:gd name="connsiteY10" fmla="*/ 90969 h 157638"/>
                  <a:gd name="connsiteX11" fmla="*/ 65423 w 96160"/>
                  <a:gd name="connsiteY11" fmla="*/ 157638 h 157638"/>
                  <a:gd name="connsiteX12" fmla="*/ 81125 w 96160"/>
                  <a:gd name="connsiteY12" fmla="*/ 157638 h 157638"/>
                  <a:gd name="connsiteX13" fmla="*/ 94957 w 96160"/>
                  <a:gd name="connsiteY13" fmla="*/ 89474 h 157638"/>
                  <a:gd name="connsiteX14" fmla="*/ 96078 w 96160"/>
                  <a:gd name="connsiteY14" fmla="*/ 78757 h 157638"/>
                  <a:gd name="connsiteX15" fmla="*/ 69522 w 96160"/>
                  <a:gd name="connsiteY15" fmla="*/ 47902 h 157638"/>
                  <a:gd name="connsiteX16" fmla="*/ 66046 w 96160"/>
                  <a:gd name="connsiteY16" fmla="*/ 47852 h 1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9" name="Freihandform: Form 18">
                <a:extLst>
                  <a:ext uri="{FF2B5EF4-FFF2-40B4-BE49-F238E27FC236}">
                    <a16:creationId xmlns:a16="http://schemas.microsoft.com/office/drawing/2014/main" id="{1FE5475E-83C3-4BE3-BBF1-FAE9A6986B3F}"/>
                  </a:ext>
                </a:extLst>
              </p:cNvPr>
              <p:cNvSpPr/>
              <p:nvPr/>
            </p:nvSpPr>
            <p:spPr>
              <a:xfrm>
                <a:off x="1518879" y="6555189"/>
                <a:ext cx="87882" cy="110951"/>
              </a:xfrm>
              <a:custGeom>
                <a:avLst/>
                <a:gdLst>
                  <a:gd name="connsiteX0" fmla="*/ 56853 w 87882"/>
                  <a:gd name="connsiteY0" fmla="*/ 0 h 110951"/>
                  <a:gd name="connsiteX1" fmla="*/ 1649 w 87882"/>
                  <a:gd name="connsiteY1" fmla="*/ 55329 h 110951"/>
                  <a:gd name="connsiteX2" fmla="*/ 153 w 87882"/>
                  <a:gd name="connsiteY2" fmla="*/ 71903 h 110951"/>
                  <a:gd name="connsiteX3" fmla="*/ 32484 w 87882"/>
                  <a:gd name="connsiteY3" fmla="*/ 110801 h 110951"/>
                  <a:gd name="connsiteX4" fmla="*/ 37538 w 87882"/>
                  <a:gd name="connsiteY4" fmla="*/ 110908 h 110951"/>
                  <a:gd name="connsiteX5" fmla="*/ 73552 w 87882"/>
                  <a:gd name="connsiteY5" fmla="*/ 95705 h 110951"/>
                  <a:gd name="connsiteX6" fmla="*/ 73552 w 87882"/>
                  <a:gd name="connsiteY6" fmla="*/ 95705 h 110951"/>
                  <a:gd name="connsiteX7" fmla="*/ 64455 w 87882"/>
                  <a:gd name="connsiteY7" fmla="*/ 84614 h 110951"/>
                  <a:gd name="connsiteX8" fmla="*/ 64455 w 87882"/>
                  <a:gd name="connsiteY8" fmla="*/ 84614 h 110951"/>
                  <a:gd name="connsiteX9" fmla="*/ 64455 w 87882"/>
                  <a:gd name="connsiteY9" fmla="*/ 84614 h 110951"/>
                  <a:gd name="connsiteX10" fmla="*/ 38535 w 87882"/>
                  <a:gd name="connsiteY10" fmla="*/ 97075 h 110951"/>
                  <a:gd name="connsiteX11" fmla="*/ 15233 w 87882"/>
                  <a:gd name="connsiteY11" fmla="*/ 75551 h 110951"/>
                  <a:gd name="connsiteX12" fmla="*/ 15356 w 87882"/>
                  <a:gd name="connsiteY12" fmla="*/ 72152 h 110951"/>
                  <a:gd name="connsiteX13" fmla="*/ 17101 w 87882"/>
                  <a:gd name="connsiteY13" fmla="*/ 55952 h 110951"/>
                  <a:gd name="connsiteX14" fmla="*/ 31058 w 87882"/>
                  <a:gd name="connsiteY14" fmla="*/ 25048 h 110951"/>
                  <a:gd name="connsiteX15" fmla="*/ 55233 w 87882"/>
                  <a:gd name="connsiteY15" fmla="*/ 14206 h 110951"/>
                  <a:gd name="connsiteX16" fmla="*/ 76293 w 87882"/>
                  <a:gd name="connsiteY16" fmla="*/ 26668 h 110951"/>
                  <a:gd name="connsiteX17" fmla="*/ 76293 w 87882"/>
                  <a:gd name="connsiteY17" fmla="*/ 26668 h 110951"/>
                  <a:gd name="connsiteX18" fmla="*/ 87883 w 87882"/>
                  <a:gd name="connsiteY18" fmla="*/ 16823 h 110951"/>
                  <a:gd name="connsiteX19" fmla="*/ 87883 w 87882"/>
                  <a:gd name="connsiteY19" fmla="*/ 16823 h 110951"/>
                  <a:gd name="connsiteX20" fmla="*/ 56729 w 87882"/>
                  <a:gd name="connsiteY20" fmla="*/ 748 h 1109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1B77B6E-E7CB-412B-95AC-A9322C6799BB}"/>
                </a:ext>
              </a:extLst>
            </p:cNvPr>
            <p:cNvSpPr/>
            <p:nvPr/>
          </p:nvSpPr>
          <p:spPr>
            <a:xfrm>
              <a:off x="1493985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832E5C1A-13CE-49A6-B590-B6EAA5F9E1AD}"/>
                </a:ext>
              </a:extLst>
            </p:cNvPr>
            <p:cNvSpPr/>
            <p:nvPr/>
          </p:nvSpPr>
          <p:spPr>
            <a:xfrm>
              <a:off x="1340708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63AE00B0-780F-4053-8FE9-B7D321217AFF}"/>
                </a:ext>
              </a:extLst>
            </p:cNvPr>
            <p:cNvSpPr/>
            <p:nvPr/>
          </p:nvSpPr>
          <p:spPr>
            <a:xfrm>
              <a:off x="1298712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702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2406CEAF-7399-4CCB-A322-03F0BA2532F5}"/>
                </a:ext>
              </a:extLst>
            </p:cNvPr>
            <p:cNvSpPr/>
            <p:nvPr/>
          </p:nvSpPr>
          <p:spPr>
            <a:xfrm>
              <a:off x="731837" y="6507088"/>
              <a:ext cx="417960" cy="157638"/>
            </a:xfrm>
            <a:custGeom>
              <a:avLst/>
              <a:gdLst>
                <a:gd name="connsiteX0" fmla="*/ 368612 w 417960"/>
                <a:gd name="connsiteY0" fmla="*/ 0 h 157638"/>
                <a:gd name="connsiteX1" fmla="*/ 356151 w 417960"/>
                <a:gd name="connsiteY1" fmla="*/ 61062 h 157638"/>
                <a:gd name="connsiteX2" fmla="*/ 320760 w 417960"/>
                <a:gd name="connsiteY2" fmla="*/ 61062 h 157638"/>
                <a:gd name="connsiteX3" fmla="*/ 333222 w 417960"/>
                <a:gd name="connsiteY3" fmla="*/ 0 h 157638"/>
                <a:gd name="connsiteX4" fmla="*/ 31652 w 417960"/>
                <a:gd name="connsiteY4" fmla="*/ 0 h 157638"/>
                <a:gd name="connsiteX5" fmla="*/ 0 w 417960"/>
                <a:gd name="connsiteY5" fmla="*/ 157638 h 157638"/>
                <a:gd name="connsiteX6" fmla="*/ 120254 w 417960"/>
                <a:gd name="connsiteY6" fmla="*/ 157638 h 157638"/>
                <a:gd name="connsiteX7" fmla="*/ 128105 w 417960"/>
                <a:gd name="connsiteY7" fmla="*/ 118260 h 157638"/>
                <a:gd name="connsiteX8" fmla="*/ 57074 w 417960"/>
                <a:gd name="connsiteY8" fmla="*/ 118260 h 157638"/>
                <a:gd name="connsiteX9" fmla="*/ 61435 w 417960"/>
                <a:gd name="connsiteY9" fmla="*/ 96577 h 157638"/>
                <a:gd name="connsiteX10" fmla="*/ 132342 w 417960"/>
                <a:gd name="connsiteY10" fmla="*/ 96577 h 157638"/>
                <a:gd name="connsiteX11" fmla="*/ 139569 w 417960"/>
                <a:gd name="connsiteY11" fmla="*/ 61062 h 157638"/>
                <a:gd name="connsiteX12" fmla="*/ 68538 w 417960"/>
                <a:gd name="connsiteY12" fmla="*/ 61062 h 157638"/>
                <a:gd name="connsiteX13" fmla="*/ 72900 w 417960"/>
                <a:gd name="connsiteY13" fmla="*/ 39378 h 157638"/>
                <a:gd name="connsiteX14" fmla="*/ 185303 w 417960"/>
                <a:gd name="connsiteY14" fmla="*/ 39378 h 157638"/>
                <a:gd name="connsiteX15" fmla="*/ 161626 w 417960"/>
                <a:gd name="connsiteY15" fmla="*/ 157638 h 157638"/>
                <a:gd name="connsiteX16" fmla="*/ 210849 w 417960"/>
                <a:gd name="connsiteY16" fmla="*/ 157638 h 157638"/>
                <a:gd name="connsiteX17" fmla="*/ 234651 w 417960"/>
                <a:gd name="connsiteY17" fmla="*/ 39378 h 157638"/>
                <a:gd name="connsiteX18" fmla="*/ 276023 w 417960"/>
                <a:gd name="connsiteY18" fmla="*/ 39378 h 157638"/>
                <a:gd name="connsiteX19" fmla="*/ 252222 w 417960"/>
                <a:gd name="connsiteY19" fmla="*/ 157638 h 157638"/>
                <a:gd name="connsiteX20" fmla="*/ 301569 w 417960"/>
                <a:gd name="connsiteY20" fmla="*/ 157638 h 157638"/>
                <a:gd name="connsiteX21" fmla="*/ 313657 w 417960"/>
                <a:gd name="connsiteY21" fmla="*/ 96577 h 157638"/>
                <a:gd name="connsiteX22" fmla="*/ 349172 w 417960"/>
                <a:gd name="connsiteY22" fmla="*/ 96577 h 157638"/>
                <a:gd name="connsiteX23" fmla="*/ 336960 w 417960"/>
                <a:gd name="connsiteY23" fmla="*/ 157638 h 157638"/>
                <a:gd name="connsiteX24" fmla="*/ 386308 w 417960"/>
                <a:gd name="connsiteY24" fmla="*/ 157638 h 157638"/>
                <a:gd name="connsiteX25" fmla="*/ 417960 w 417960"/>
                <a:gd name="connsiteY25" fmla="*/ 0 h 157638"/>
                <a:gd name="connsiteX26" fmla="*/ 368612 w 417960"/>
                <a:gd name="connsiteY26" fmla="*/ 0 h 1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</p:grpSp>
    </p:spTree>
    <p:extLst>
      <p:ext uri="{BB962C8B-B14F-4D97-AF65-F5344CB8AC3E}">
        <p14:creationId xmlns:p14="http://schemas.microsoft.com/office/powerpoint/2010/main" val="3716835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6206A-A7FF-4A2F-A4EA-EDA7D9956B8C}" type="datetime1">
              <a:rPr lang="de-CH" noProof="0" smtClean="0"/>
              <a:t>25.05.2026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1412874"/>
            <a:ext cx="10728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943852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B7ECC-AD5B-4AE2-A84F-7ABFC0424E38}" type="datetime1">
              <a:rPr lang="de-CH" noProof="0" smtClean="0"/>
              <a:t>25.05.2026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260350"/>
            <a:ext cx="10728000" cy="6012524"/>
          </a:xfrm>
        </p:spPr>
        <p:txBody>
          <a:bodyPr tIns="21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8420483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163" y="1412875"/>
            <a:ext cx="5256000" cy="48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21818-B1F9-4DD3-88F2-43FBC3C9BAF5}" type="datetime1">
              <a:rPr lang="de-CH" noProof="0" smtClean="0"/>
              <a:t>25.05.2026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040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9963947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5121800"/>
            <a:ext cx="5255999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0A20D-9FD8-4251-A734-1127FF21ADB2}" type="datetime1">
              <a:rPr lang="de-CH" noProof="0" smtClean="0"/>
              <a:t>25.05.2026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Bildplatzhalter 10">
            <a:extLst>
              <a:ext uri="{FF2B5EF4-FFF2-40B4-BE49-F238E27FC236}">
                <a16:creationId xmlns:a16="http://schemas.microsoft.com/office/drawing/2014/main" id="{1AAB6914-2518-430D-BF4C-14EA51B6141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4162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092EEFB-079B-4C38-A665-E52B9837601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04162" y="5121800"/>
            <a:ext cx="5256001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085750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4166439"/>
            <a:ext cx="10728327" cy="2124401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F4EA9-B322-4AC6-9ED4-333F1AAC8416}" type="datetime1">
              <a:rPr lang="de-CH" noProof="0" smtClean="0"/>
              <a:t>25.05.2026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3" name="Bildplatzhalter 10">
            <a:extLst>
              <a:ext uri="{FF2B5EF4-FFF2-40B4-BE49-F238E27FC236}">
                <a16:creationId xmlns:a16="http://schemas.microsoft.com/office/drawing/2014/main" id="{36793346-BF6B-42A8-ADE0-3AA3DC3B23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40162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FE637F68-618E-43EB-B240-4BFA26852FC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85999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252988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"/>
          </a:xfrm>
        </p:spPr>
        <p:txBody>
          <a:bodyPr/>
          <a:lstStyle>
            <a:lvl1pPr marL="0" indent="0">
              <a:buNone/>
              <a:defRPr b="1"/>
            </a:lvl1pPr>
            <a:lvl2pPr marL="266700" indent="0">
              <a:buNone/>
              <a:defRPr b="1"/>
            </a:lvl2pPr>
            <a:lvl3pPr marL="538163" indent="0">
              <a:buNone/>
              <a:defRPr b="1"/>
            </a:lvl3pPr>
            <a:lvl4pPr marL="804862" indent="0">
              <a:buNone/>
              <a:defRPr b="1"/>
            </a:lvl4pPr>
            <a:lvl5pPr marL="1076325" indent="0">
              <a:buNone/>
              <a:defRPr b="1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D59B2A-9722-4479-8974-FDB801910172}" type="datetime1">
              <a:rPr lang="de-CH" noProof="0" smtClean="0"/>
              <a:t>25.05.2026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9" name="Tabellenplatzhalter 8">
            <a:extLst>
              <a:ext uri="{FF2B5EF4-FFF2-40B4-BE49-F238E27FC236}">
                <a16:creationId xmlns:a16="http://schemas.microsoft.com/office/drawing/2014/main" id="{A1D947E6-CC00-458E-BDE1-B0877E30333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31838" y="2061398"/>
            <a:ext cx="10728325" cy="4212401"/>
          </a:xfrm>
        </p:spPr>
        <p:txBody>
          <a:bodyPr tIns="1260000"/>
          <a:lstStyle>
            <a:lvl1pPr marL="0" indent="0" algn="ctr">
              <a:spcBef>
                <a:spcPts val="0"/>
              </a:spcBef>
              <a:buNone/>
              <a:defRPr sz="1400"/>
            </a:lvl1pPr>
          </a:lstStyle>
          <a:p>
            <a:r>
              <a:rPr lang="de-DE" noProof="0"/>
              <a:t>Tabelle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92866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4B20FF-3667-40DF-92A1-C6CF3BBC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2135492"/>
            <a:ext cx="10728325" cy="396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66700" indent="0">
              <a:buNone/>
              <a:defRPr>
                <a:solidFill>
                  <a:schemeClr val="bg1"/>
                </a:solidFill>
              </a:defRPr>
            </a:lvl2pPr>
            <a:lvl3pPr marL="540000" indent="0">
              <a:buNone/>
              <a:defRPr>
                <a:solidFill>
                  <a:schemeClr val="bg1"/>
                </a:solidFill>
              </a:defRPr>
            </a:lvl3pPr>
            <a:lvl4pPr marL="808537" indent="0">
              <a:buNone/>
              <a:defRPr>
                <a:solidFill>
                  <a:schemeClr val="bg1"/>
                </a:solidFill>
              </a:defRPr>
            </a:lvl4pPr>
            <a:lvl5pPr marL="1080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794484F1-3B7F-46CE-AD0B-2310A557A99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F900572E-A73E-42BE-96FA-38ADC4E79F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670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9CEF804-E58C-481B-A606-7D35AF68F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 noProof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C6EC0D-393C-42F2-B6A7-B19C9B098F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Mastertextformat bearbeiten</a:t>
            </a:r>
          </a:p>
          <a:p>
            <a:pPr lvl="1"/>
            <a:r>
              <a:rPr lang="de-CH" noProof="0"/>
              <a:t>Zweite Ebene</a:t>
            </a:r>
          </a:p>
          <a:p>
            <a:pPr lvl="2"/>
            <a:r>
              <a:rPr lang="de-CH" noProof="0"/>
              <a:t>Dritte Ebene</a:t>
            </a:r>
          </a:p>
          <a:p>
            <a:pPr lvl="3"/>
            <a:r>
              <a:rPr lang="de-CH" noProof="0"/>
              <a:t>Vierte Ebene</a:t>
            </a:r>
          </a:p>
          <a:p>
            <a:pPr lvl="4"/>
            <a:r>
              <a:rPr lang="de-CH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C96E51-36C9-4BEE-A761-33378A0DF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3692" y="6522444"/>
            <a:ext cx="612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269E37AB-EE9C-4565-B2FD-B1FC504BEE2A}" type="datetime1">
              <a:rPr lang="de-CH" noProof="0" smtClean="0"/>
              <a:t>25.05.2026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1EC403-6E63-4450-AFDD-66CA49D6CC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71700" y="6522444"/>
            <a:ext cx="540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Organisationseinheit verbal – STRENG VERTRAULICH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DFCC57-7DDC-4B2C-A6BE-862DAF9C9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37585" y="6522444"/>
            <a:ext cx="322577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‹Nr.›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0960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0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461" userDrawn="1">
          <p15:clr>
            <a:srgbClr val="F26B43"/>
          </p15:clr>
        </p15:guide>
        <p15:guide id="3" pos="7219" userDrawn="1">
          <p15:clr>
            <a:srgbClr val="F26B43"/>
          </p15:clr>
        </p15:guide>
        <p15:guide id="4" orient="horz" pos="164" userDrawn="1">
          <p15:clr>
            <a:srgbClr val="F26B43"/>
          </p15:clr>
        </p15:guide>
        <p15:guide id="5" orient="horz" pos="890" userDrawn="1">
          <p15:clr>
            <a:srgbClr val="F26B43"/>
          </p15:clr>
        </p15:guide>
        <p15:guide id="6" orient="horz" pos="4201" userDrawn="1">
          <p15:clr>
            <a:srgbClr val="F26B43"/>
          </p15:clr>
        </p15:guide>
        <p15:guide id="7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6.xml"/><Relationship Id="rId1" Type="http://schemas.openxmlformats.org/officeDocument/2006/relationships/video" Target="https://www.youtube.com/embed/XKzzWe15DEw?feature=oembed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1">
            <a:extLst>
              <a:ext uri="{FF2B5EF4-FFF2-40B4-BE49-F238E27FC236}">
                <a16:creationId xmlns:a16="http://schemas.microsoft.com/office/drawing/2014/main" id="{A715EF66-10D3-5190-0ABE-13DF42A23C8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257D4A7-4B43-9371-55A8-CC2C0FDF78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Furuta Pendulum</a:t>
            </a:r>
          </a:p>
        </p:txBody>
      </p:sp>
      <p:sp>
        <p:nvSpPr>
          <p:cNvPr id="4" name="Bildplatzhalter 3">
            <a:extLst>
              <a:ext uri="{FF2B5EF4-FFF2-40B4-BE49-F238E27FC236}">
                <a16:creationId xmlns:a16="http://schemas.microsoft.com/office/drawing/2014/main" id="{A2D0E132-0B8C-9EBB-F548-523B7D48393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CE1492D-627F-FBFA-9E77-7B0E2702EA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4"/>
            <a:ext cx="4825484" cy="1440000"/>
          </a:xfrm>
        </p:spPr>
        <p:txBody>
          <a:bodyPr/>
          <a:lstStyle/>
          <a:p>
            <a:r>
              <a:rPr lang="en-GB" noProof="0" dirty="0"/>
              <a:t>Electronics for Physicists II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3428840-15B6-BB4A-B44A-671C296E296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noProof="0" dirty="0"/>
              <a:t>Marvin S., Nicola R.,</a:t>
            </a:r>
          </a:p>
          <a:p>
            <a:r>
              <a:rPr lang="en-GB" noProof="0" dirty="0"/>
              <a:t>Basil F.</a:t>
            </a:r>
          </a:p>
        </p:txBody>
      </p:sp>
    </p:spTree>
    <p:extLst>
      <p:ext uri="{BB962C8B-B14F-4D97-AF65-F5344CB8AC3E}">
        <p14:creationId xmlns:p14="http://schemas.microsoft.com/office/powerpoint/2010/main" val="2355659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050A74-6ED2-41B3-AD63-74F89C447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Agenda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792F61-F3A1-4E2C-B0EE-9742603FD0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Project Overview</a:t>
            </a:r>
          </a:p>
          <a:p>
            <a:r>
              <a:rPr lang="en-GB" noProof="0" dirty="0"/>
              <a:t>SSC Interface &amp; Sensor</a:t>
            </a:r>
          </a:p>
          <a:p>
            <a:r>
              <a:rPr lang="en-GB" noProof="0" dirty="0"/>
              <a:t>PID Loop</a:t>
            </a:r>
          </a:p>
          <a:p>
            <a:r>
              <a:rPr lang="en-GB" noProof="0" dirty="0"/>
              <a:t>APB Bus (only mention, from exercises)</a:t>
            </a:r>
          </a:p>
          <a:p>
            <a:r>
              <a:rPr lang="en-GB" noProof="0" dirty="0"/>
              <a:t>Drive Motor</a:t>
            </a:r>
          </a:p>
          <a:p>
            <a:r>
              <a:rPr lang="en-GB" noProof="0" dirty="0"/>
              <a:t>Conclusion and Outlook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726846-AD64-4677-BEA5-D3BDD96C7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B387B-FBD3-42F8-9E31-B45335F65718}" type="datetime1">
              <a:rPr lang="en-GB" noProof="0" smtClean="0"/>
              <a:t>25.05.2026</a:t>
            </a:fld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665EC3-3ED3-4D21-AC3C-EAD0881BA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2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164086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EC9F64-1D43-A83D-07F8-E5B031330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1. Project Overview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BC7FDA-BDD5-A25B-BF12-660BBA342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Goal: Build a real-time control system capable of stabilizing a mechanical arm.</a:t>
            </a:r>
          </a:p>
          <a:p>
            <a:r>
              <a:rPr lang="en-GB" noProof="0" dirty="0"/>
              <a:t>Hardware Components:</a:t>
            </a:r>
          </a:p>
          <a:p>
            <a:pPr lvl="1"/>
            <a:r>
              <a:rPr lang="en-GB" noProof="0" dirty="0"/>
              <a:t>FPGA (Calculations, Communication between Motor and Sensor)</a:t>
            </a:r>
          </a:p>
          <a:p>
            <a:pPr lvl="1"/>
            <a:r>
              <a:rPr lang="en-GB" noProof="0" dirty="0"/>
              <a:t>Motor [</a:t>
            </a:r>
            <a:r>
              <a:rPr lang="en-GB" noProof="0" dirty="0" err="1"/>
              <a:t>Sanmotion</a:t>
            </a:r>
            <a:r>
              <a:rPr lang="en-GB" noProof="0" dirty="0"/>
              <a:t> F2]</a:t>
            </a:r>
          </a:p>
          <a:p>
            <a:pPr lvl="1"/>
            <a:r>
              <a:rPr lang="en-GB" noProof="0" dirty="0"/>
              <a:t>Big Easy Driver (BED)</a:t>
            </a:r>
          </a:p>
          <a:p>
            <a:pPr lvl="1"/>
            <a:r>
              <a:rPr lang="en-GB" noProof="0" dirty="0"/>
              <a:t>GMR-Based Angle Sensor [TLE5012B]</a:t>
            </a:r>
          </a:p>
          <a:p>
            <a:r>
              <a:rPr lang="en-GB" noProof="0" dirty="0"/>
              <a:t>Software Components:</a:t>
            </a:r>
          </a:p>
          <a:p>
            <a:pPr lvl="1"/>
            <a:r>
              <a:rPr lang="en-GB" noProof="0" dirty="0"/>
              <a:t>Connector</a:t>
            </a:r>
          </a:p>
          <a:p>
            <a:pPr lvl="1"/>
            <a:r>
              <a:rPr lang="en-GB" noProof="0" dirty="0"/>
              <a:t>SSC Interface</a:t>
            </a:r>
          </a:p>
          <a:p>
            <a:pPr lvl="1"/>
            <a:r>
              <a:rPr lang="en-GB" noProof="0" dirty="0"/>
              <a:t>PID Loop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94F2AF-19FB-DDBB-1520-51C1F38F5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162FC-E8FF-4D52-8F53-8F2A2A3AD348}" type="datetime1">
              <a:rPr lang="en-GB" noProof="0" smtClean="0"/>
              <a:t>25.05.2026</a:t>
            </a:fld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4DE593-D2E2-FA45-89C8-B29E9E606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3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18949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B41C06-70BE-68B2-0657-31E0378E7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1. Project Overview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AF78BFD-2EF8-A7C5-8BD1-A30CE1834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6206A-A7FF-4A2F-A4EA-EDA7D9956B8C}" type="datetime1">
              <a:rPr lang="en-GB" noProof="0" smtClean="0"/>
              <a:t>25.05.2026</a:t>
            </a:fld>
            <a:endParaRPr lang="en-GB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165EAA-5E0C-E8AF-11F9-3B85725CC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4</a:t>
            </a:fld>
            <a:endParaRPr lang="en-GB" noProof="0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DBF5178E-4AF5-0951-C4A3-5754EAEB2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285" y="790206"/>
            <a:ext cx="5763429" cy="5277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20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4A3DA4-1132-34EB-8714-9522967C9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 SSC Interface &amp; Sensor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565F68-6D21-A849-E788-DD3D63999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SSC: Synchronous Serial Communication (Protocol by Infineon for their TLE5012B magnetic sensor)</a:t>
            </a:r>
          </a:p>
          <a:p>
            <a:pPr lvl="1"/>
            <a:r>
              <a:rPr lang="en-GB" noProof="0" dirty="0"/>
              <a:t>Synchronous: FPGA and sensor share the same clock (they agree on when a bit is valid)</a:t>
            </a:r>
          </a:p>
          <a:p>
            <a:pPr lvl="1"/>
            <a:r>
              <a:rPr lang="en-GB" noProof="0" dirty="0"/>
              <a:t>Serial: bits travel one at a time over a single wire, rather than all at once in parallel.</a:t>
            </a:r>
          </a:p>
          <a:p>
            <a:r>
              <a:rPr lang="en-GB" noProof="0" dirty="0"/>
              <a:t>Purpose: Common protocol for angles between sensor and FPGA.</a:t>
            </a:r>
          </a:p>
          <a:p>
            <a:r>
              <a:rPr lang="en-GB" noProof="0" dirty="0"/>
              <a:t>The three physical signals:</a:t>
            </a:r>
          </a:p>
          <a:p>
            <a:pPr lvl="1"/>
            <a:r>
              <a:rPr lang="en-GB" noProof="0" dirty="0"/>
              <a:t>“</a:t>
            </a:r>
            <a:r>
              <a:rPr lang="en-GB" noProof="0" dirty="0" err="1"/>
              <a:t>sck_o</a:t>
            </a:r>
            <a:r>
              <a:rPr lang="en-GB" noProof="0" dirty="0"/>
              <a:t>”: Serial Clock, generated by the FPGA.</a:t>
            </a:r>
          </a:p>
          <a:p>
            <a:pPr lvl="1"/>
            <a:r>
              <a:rPr lang="en-GB" noProof="0" dirty="0"/>
              <a:t>“</a:t>
            </a:r>
            <a:r>
              <a:rPr lang="en-GB" noProof="0" dirty="0" err="1"/>
              <a:t>data_pin</a:t>
            </a:r>
            <a:r>
              <a:rPr lang="en-GB" noProof="0" dirty="0"/>
              <a:t>”: single wire that carries all actual information. It is bidirectional: The same physical wire is used in both directions, but never simultaneously.</a:t>
            </a:r>
          </a:p>
          <a:p>
            <a:pPr lvl="1"/>
            <a:r>
              <a:rPr lang="en-GB" noProof="0" dirty="0"/>
              <a:t>“</a:t>
            </a:r>
            <a:r>
              <a:rPr lang="en-GB" noProof="0" dirty="0" err="1"/>
              <a:t>csq_o</a:t>
            </a:r>
            <a:r>
              <a:rPr lang="en-GB" noProof="0" dirty="0"/>
              <a:t>”: Tells the sensor when a transaction is beginning and when it is ending. Active low, held low for the entire transaction.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02CAC78-53C4-EB0A-C70D-58A3DCDFD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162FC-E8FF-4D52-8F53-8F2A2A3AD348}" type="datetime1">
              <a:rPr lang="en-GB" noProof="0" smtClean="0"/>
              <a:t>25.05.2026</a:t>
            </a:fld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A6832A5-0EC5-3978-AC86-A7C836E4C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5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14305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F0930D-D466-83C4-17C6-830416B9F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 SSC Interface &amp; Sensor – State Diagram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F77DD4-FE53-5564-18EE-28CB3ED30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162FC-E8FF-4D52-8F53-8F2A2A3AD348}" type="datetime1">
              <a:rPr lang="en-GB" noProof="0" smtClean="0"/>
              <a:t>25.05.2026</a:t>
            </a:fld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A7009FC-A090-B302-7C03-A2EC6436B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6</a:t>
            </a:fld>
            <a:endParaRPr lang="en-GB" noProof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AF94E47-53B3-0681-E92D-A833F51132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420" y="1160351"/>
            <a:ext cx="7177160" cy="4816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320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6DFC66-A4F8-A83E-0193-F75B8BE5A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3. PID Loop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625FDC-3968-21C2-3C5F-CEA6C00D0D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noProof="0" dirty="0"/>
                  <a:t>We have a current angle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noProof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GB" noProof="0" dirty="0"/>
                  <a:t> and a target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noProof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noProof="0" dirty="0"/>
                  <a:t>. The PID Loop calculates how the current angle needs to be transformed to arrive at the target angle.</a:t>
                </a:r>
              </a:p>
              <a:p>
                <a:pPr marL="341437" indent="-342900">
                  <a:buFont typeface="+mj-lt"/>
                  <a:buAutoNum type="arabicPeriod"/>
                </a:pPr>
                <a:r>
                  <a:rPr lang="en-GB" noProof="0" dirty="0"/>
                  <a:t>Error Computation:</a:t>
                </a:r>
              </a:p>
              <a:p>
                <a:pPr lvl="1"/>
                <a:r>
                  <a:rPr lang="en-GB" noProof="0" dirty="0"/>
                  <a:t>Consists of three error parts: Proportionality, Integral and Derivative (PID)</a:t>
                </a:r>
              </a:p>
              <a:p>
                <a:pPr lvl="1"/>
                <a:r>
                  <a:rPr lang="en-GB" dirty="0"/>
                  <a:t>Proportionality: </a:t>
                </a:r>
                <a:r>
                  <a:rPr lang="en-GB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error = </a:t>
                </a:r>
                <a:r>
                  <a:rPr lang="en-GB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angle_raw</a:t>
                </a:r>
                <a:r>
                  <a:rPr lang="en-GB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 – angle_0;</a:t>
                </a:r>
              </a:p>
              <a:p>
                <a:pPr lvl="1"/>
                <a:r>
                  <a:rPr lang="en-GB" dirty="0"/>
                  <a:t>Integral: </a:t>
                </a:r>
                <a:r>
                  <a:rPr lang="en-GB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integral_next</a:t>
                </a:r>
                <a:r>
                  <a:rPr lang="en-GB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 = integral – (integral &gt;&gt;&gt; </a:t>
                </a:r>
                <a:r>
                  <a:rPr lang="en-GB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integral_decay_bits</a:t>
                </a:r>
                <a:r>
                  <a:rPr lang="en-GB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) + error;</a:t>
                </a:r>
              </a:p>
              <a:p>
                <a:pPr lvl="1"/>
                <a:r>
                  <a:rPr lang="en-GB" noProof="0" dirty="0"/>
                  <a:t>Derivative: </a:t>
                </a:r>
                <a:r>
                  <a:rPr lang="en-GB" noProof="0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derivative &lt;= </a:t>
                </a:r>
                <a:r>
                  <a:rPr lang="en-GB" noProof="0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current_error</a:t>
                </a:r>
                <a:r>
                  <a:rPr lang="en-GB" noProof="0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 – error;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GB" dirty="0"/>
                  <a:t>Gain Multiplication (Combinational): </a:t>
                </a:r>
                <a:r>
                  <a:rPr lang="en-GB" dirty="0" err="1"/>
                  <a:t>p_term</a:t>
                </a:r>
                <a:r>
                  <a:rPr lang="en-GB" dirty="0"/>
                  <a:t> ({1’b0, </a:t>
                </a:r>
                <a:r>
                  <a:rPr lang="en-GB" dirty="0" err="1"/>
                  <a:t>K_p</a:t>
                </a:r>
                <a:r>
                  <a:rPr lang="en-GB" dirty="0"/>
                  <a:t>} x error), </a:t>
                </a:r>
                <a:r>
                  <a:rPr lang="en-GB" dirty="0" err="1"/>
                  <a:t>i_term</a:t>
                </a:r>
                <a:r>
                  <a:rPr lang="en-GB" dirty="0"/>
                  <a:t> ({1’b0, </a:t>
                </a:r>
                <a:r>
                  <a:rPr lang="en-GB" dirty="0" err="1"/>
                  <a:t>K_i</a:t>
                </a:r>
                <a:r>
                  <a:rPr lang="en-GB" dirty="0"/>
                  <a:t>} x integral) and </a:t>
                </a:r>
                <a:r>
                  <a:rPr lang="en-GB" dirty="0" err="1"/>
                  <a:t>d_term</a:t>
                </a:r>
                <a:r>
                  <a:rPr lang="en-GB" dirty="0"/>
                  <a:t> ({1’b0, </a:t>
                </a:r>
                <a:r>
                  <a:rPr lang="en-GB" dirty="0" err="1"/>
                  <a:t>K_d</a:t>
                </a:r>
                <a:r>
                  <a:rPr lang="en-GB" dirty="0"/>
                  <a:t>} x error).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GB" noProof="0" dirty="0"/>
                  <a:t>Output:</a:t>
                </a:r>
              </a:p>
              <a:p>
                <a:pPr marL="611063" lvl="1" indent="-342900"/>
                <a:r>
                  <a:rPr lang="en-GB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correction_direction</a:t>
                </a:r>
                <a:endParaRPr lang="en-GB" dirty="0">
                  <a:highlight>
                    <a:srgbClr val="C0C0C0"/>
                  </a:highlight>
                  <a:latin typeface="Consolas" panose="020B0609020204030204" pitchFamily="49" charset="0"/>
                </a:endParaRPr>
              </a:p>
              <a:p>
                <a:pPr marL="611063" lvl="1" indent="-342900"/>
                <a:r>
                  <a:rPr lang="en-GB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correction_value</a:t>
                </a:r>
                <a:r>
                  <a:rPr lang="en-GB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 [30:0]</a:t>
                </a:r>
              </a:p>
              <a:p>
                <a:pPr marL="611063" lvl="1" indent="-342900"/>
                <a:r>
                  <a:rPr lang="en-GB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sat_flag</a:t>
                </a:r>
                <a:endParaRPr lang="en-GB" dirty="0">
                  <a:highlight>
                    <a:srgbClr val="C0C0C0"/>
                  </a:highlight>
                  <a:latin typeface="Consolas" panose="020B0609020204030204" pitchFamily="49" charset="0"/>
                </a:endParaRPr>
              </a:p>
              <a:p>
                <a:pPr marL="611063" lvl="1" indent="-342900"/>
                <a:r>
                  <a:rPr lang="en-GB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done_o</a:t>
                </a:r>
                <a:endParaRPr lang="en-GB" dirty="0">
                  <a:highlight>
                    <a:srgbClr val="C0C0C0"/>
                  </a:highlight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625FDC-3968-21C2-3C5F-CEA6C00D0D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7" t="-1695" b="-4172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D49DDE2-6D32-BE7C-1EC1-6D4BF5935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162FC-E8FF-4D52-8F53-8F2A2A3AD348}" type="datetime1">
              <a:rPr lang="en-GB" noProof="0" smtClean="0"/>
              <a:t>25.05.2026</a:t>
            </a:fld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335230-8561-B4D3-07B3-4F66F1008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7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667768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7C8A63-AA9A-E60D-50B5-2E1EE1F0C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4. Drive Motor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D75535-41D3-20BA-52E4-E1E38456F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The Big Easy Driver (BED)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power </a:t>
            </a:r>
            <a:r>
              <a:rPr lang="de-CH" dirty="0" err="1"/>
              <a:t>electronics</a:t>
            </a:r>
            <a:r>
              <a:rPr lang="de-CH" dirty="0"/>
              <a:t> interface </a:t>
            </a:r>
            <a:r>
              <a:rPr lang="de-CH" dirty="0" err="1"/>
              <a:t>between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FPGA and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stepper</a:t>
            </a:r>
            <a:r>
              <a:rPr lang="de-CH" dirty="0"/>
              <a:t> </a:t>
            </a:r>
            <a:r>
              <a:rPr lang="de-CH" dirty="0" err="1"/>
              <a:t>motor</a:t>
            </a:r>
            <a:r>
              <a:rPr lang="de-CH" dirty="0"/>
              <a:t>. </a:t>
            </a:r>
            <a:r>
              <a:rPr lang="de-CH" dirty="0" err="1"/>
              <a:t>It</a:t>
            </a:r>
            <a:r>
              <a:rPr lang="de-CH" dirty="0"/>
              <a:t> </a:t>
            </a:r>
            <a:r>
              <a:rPr lang="de-CH" dirty="0" err="1"/>
              <a:t>converts</a:t>
            </a:r>
            <a:r>
              <a:rPr lang="de-CH" dirty="0"/>
              <a:t> simple </a:t>
            </a:r>
            <a:r>
              <a:rPr lang="de-CH" dirty="0" err="1"/>
              <a:t>instructions</a:t>
            </a:r>
            <a:r>
              <a:rPr lang="de-CH" dirty="0"/>
              <a:t> (</a:t>
            </a:r>
            <a:r>
              <a:rPr lang="de-CH" dirty="0" err="1"/>
              <a:t>direction</a:t>
            </a:r>
            <a:r>
              <a:rPr lang="de-CH" dirty="0"/>
              <a:t>, </a:t>
            </a:r>
            <a:r>
              <a:rPr lang="de-CH" dirty="0" err="1"/>
              <a:t>steps</a:t>
            </a:r>
            <a:r>
              <a:rPr lang="de-CH" dirty="0"/>
              <a:t>) </a:t>
            </a:r>
            <a:r>
              <a:rPr lang="de-CH" dirty="0" err="1"/>
              <a:t>into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complex</a:t>
            </a:r>
            <a:r>
              <a:rPr lang="de-CH" dirty="0"/>
              <a:t> high-</a:t>
            </a:r>
            <a:r>
              <a:rPr lang="de-CH" dirty="0" err="1"/>
              <a:t>current</a:t>
            </a:r>
            <a:r>
              <a:rPr lang="de-CH" dirty="0"/>
              <a:t> </a:t>
            </a:r>
            <a:r>
              <a:rPr lang="de-CH" dirty="0" err="1"/>
              <a:t>coil</a:t>
            </a:r>
            <a:r>
              <a:rPr lang="de-CH" dirty="0"/>
              <a:t> </a:t>
            </a:r>
            <a:r>
              <a:rPr lang="de-CH" dirty="0" err="1"/>
              <a:t>currents</a:t>
            </a:r>
            <a:r>
              <a:rPr lang="de-CH" dirty="0"/>
              <a:t> </a:t>
            </a:r>
            <a:r>
              <a:rPr lang="de-CH" dirty="0" err="1"/>
              <a:t>required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rotate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stepper</a:t>
            </a:r>
            <a:r>
              <a:rPr lang="de-CH" dirty="0"/>
              <a:t> </a:t>
            </a:r>
            <a:r>
              <a:rPr lang="de-CH" dirty="0" err="1"/>
              <a:t>motor</a:t>
            </a:r>
            <a:r>
              <a:rPr lang="de-CH"/>
              <a:t>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E6136B-6315-AC87-DD65-E96923D92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162FC-E8FF-4D52-8F53-8F2A2A3AD348}" type="datetime1">
              <a:rPr lang="de-CH" noProof="0" smtClean="0"/>
              <a:t>25.05.2026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2BCABD-3A50-1E07-6274-59E7974ED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 – STRENG VERTRAULICH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589D5D-5E51-DF11-2F4B-6AB31A8D3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8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803970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CEE016-24CD-6158-0C42-3FBDA4AE9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Demonstration from YouTube</a:t>
            </a:r>
          </a:p>
        </p:txBody>
      </p:sp>
      <p:pic>
        <p:nvPicPr>
          <p:cNvPr id="7" name="Onlinemedien 6">
            <a:hlinkClick r:id="" action="ppaction://media"/>
            <a:extLst>
              <a:ext uri="{FF2B5EF4-FFF2-40B4-BE49-F238E27FC236}">
                <a16:creationId xmlns:a16="http://schemas.microsoft.com/office/drawing/2014/main" id="{C1D67418-755B-127C-7728-1F23DF167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954213" y="1162715"/>
            <a:ext cx="8283575" cy="4679950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3C7FC3-C8E8-6611-DB61-491E8E769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1D6AC-3BAC-4A50-9479-1E7CD895A648}" type="datetime1">
              <a:rPr lang="en-GB" noProof="0" smtClean="0"/>
              <a:t>25.05.2026</a:t>
            </a:fld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F344AC-A05B-27B7-F466-3BB7C6053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3105EE4-336F-BC74-5EEF-A672528549A2}"/>
              </a:ext>
            </a:extLst>
          </p:cNvPr>
          <p:cNvSpPr txBox="1"/>
          <p:nvPr/>
        </p:nvSpPr>
        <p:spPr>
          <a:xfrm>
            <a:off x="1954212" y="5842665"/>
            <a:ext cx="3104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/>
              <a:t>Source: Ben Katz (YouTube)</a:t>
            </a:r>
          </a:p>
        </p:txBody>
      </p:sp>
    </p:spTree>
    <p:extLst>
      <p:ext uri="{BB962C8B-B14F-4D97-AF65-F5344CB8AC3E}">
        <p14:creationId xmlns:p14="http://schemas.microsoft.com/office/powerpoint/2010/main" val="3548576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FE22A1-56F7-4FF9-8A90-D307E6733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Outlook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D7DC3-17C3-4B09-9D8E-F143A82B20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Install cables such that full rotations of the motor are possible.</a:t>
            </a:r>
          </a:p>
          <a:p>
            <a:r>
              <a:rPr lang="en-GB" noProof="0" dirty="0"/>
              <a:t>Start and swing up by the pendulum itself (instead of starting already at zero-angle).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6DB7874-B99C-4F6D-A86D-EA0EE8CA0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8B327-839C-4A2D-B2E8-7E49B2F41E4B}" type="datetime1">
              <a:rPr lang="en-GB" noProof="0" smtClean="0"/>
              <a:t>25.05.2026</a:t>
            </a:fld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620278B-D74F-421E-A3BD-EC66D5837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10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7771126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42567-C51F-AA18-7A96-FBB41C852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071B3E-8BB2-4BD9-980A-F0131BB82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Hier </a:t>
            </a:r>
            <a:r>
              <a:rPr lang="en-GB" noProof="0" dirty="0" err="1"/>
              <a:t>steht</a:t>
            </a:r>
            <a:r>
              <a:rPr lang="en-GB" noProof="0" dirty="0"/>
              <a:t> der </a:t>
            </a:r>
            <a:r>
              <a:rPr lang="en-GB" noProof="0" dirty="0" err="1"/>
              <a:t>Folientitel</a:t>
            </a: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15657F9-1244-3A63-E5A0-4B8E29C97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 err="1"/>
              <a:t>Textplatzhalter</a:t>
            </a:r>
            <a:r>
              <a:rPr lang="en-GB" noProof="0" dirty="0"/>
              <a:t> </a:t>
            </a:r>
            <a:r>
              <a:rPr lang="en-GB" noProof="0" dirty="0" err="1"/>
              <a:t>haben</a:t>
            </a:r>
            <a:r>
              <a:rPr lang="en-GB" noProof="0" dirty="0"/>
              <a:t> </a:t>
            </a:r>
            <a:r>
              <a:rPr lang="en-GB" noProof="0" dirty="0" err="1"/>
              <a:t>als</a:t>
            </a:r>
            <a:r>
              <a:rPr lang="en-GB" noProof="0" dirty="0"/>
              <a:t> Standard </a:t>
            </a:r>
            <a:r>
              <a:rPr lang="en-GB" noProof="0" dirty="0" err="1"/>
              <a:t>Bulletpoints</a:t>
            </a:r>
            <a:r>
              <a:rPr lang="en-GB" noProof="0" dirty="0"/>
              <a:t>. Um </a:t>
            </a:r>
            <a:r>
              <a:rPr lang="en-GB" noProof="0" dirty="0" err="1"/>
              <a:t>diese</a:t>
            </a:r>
            <a:r>
              <a:rPr lang="en-GB" noProof="0" dirty="0"/>
              <a:t> </a:t>
            </a:r>
            <a:r>
              <a:rPr lang="en-GB" noProof="0" dirty="0" err="1"/>
              <a:t>zu</a:t>
            </a:r>
            <a:r>
              <a:rPr lang="en-GB" noProof="0" dirty="0"/>
              <a:t> </a:t>
            </a:r>
            <a:r>
              <a:rPr lang="en-GB" noProof="0" dirty="0" err="1"/>
              <a:t>entfernen</a:t>
            </a:r>
            <a:r>
              <a:rPr lang="en-GB" noProof="0" dirty="0"/>
              <a:t> </a:t>
            </a:r>
            <a:r>
              <a:rPr lang="en-GB" noProof="0" dirty="0" err="1"/>
              <a:t>drücken</a:t>
            </a:r>
            <a:r>
              <a:rPr lang="en-GB" noProof="0" dirty="0"/>
              <a:t> Sie </a:t>
            </a:r>
            <a:r>
              <a:rPr lang="en-GB" noProof="0" dirty="0" err="1"/>
              <a:t>vor</a:t>
            </a:r>
            <a:r>
              <a:rPr lang="en-GB" noProof="0" dirty="0"/>
              <a:t> der </a:t>
            </a:r>
            <a:r>
              <a:rPr lang="en-GB" noProof="0" dirty="0" err="1"/>
              <a:t>Texteingabe</a:t>
            </a:r>
            <a:r>
              <a:rPr lang="en-GB" noProof="0" dirty="0"/>
              <a:t> die Backspace Taste.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857F1D-4C22-45A2-699B-504F928EE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8B327-839C-4A2D-B2E8-7E49B2F41E4B}" type="datetime1">
              <a:rPr lang="en-GB" noProof="0" smtClean="0"/>
              <a:t>25.05.2026</a:t>
            </a:fld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E52E05-8629-F709-CAE3-3D471DE2B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en-GB" noProof="0" smtClean="0"/>
              <a:t>11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43387391"/>
      </p:ext>
    </p:extLst>
  </p:cSld>
  <p:clrMapOvr>
    <a:masterClrMapping/>
  </p:clrMapOvr>
</p:sld>
</file>

<file path=ppt/theme/theme1.xml><?xml version="1.0" encoding="utf-8"?>
<a:theme xmlns:a="http://schemas.openxmlformats.org/drawingml/2006/main" name="ETH Zürich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Präsentation2" id="{1321EF9B-D0C2-B940-BAF0-923936C95B7C}" vid="{0165591E-D8AE-AE49-AAAE-F458C46D785B}"/>
    </a:ext>
  </a:extLst>
</a:theme>
</file>

<file path=ppt/theme/theme2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eth_pp_praesentation_mit_klassifizierung</Template>
  <TotalTime>0</TotalTime>
  <Words>551</Words>
  <Application>Microsoft Office PowerPoint</Application>
  <PresentationFormat>Breitbild</PresentationFormat>
  <Paragraphs>78</Paragraphs>
  <Slides>11</Slides>
  <Notes>1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6" baseType="lpstr">
      <vt:lpstr>Arial</vt:lpstr>
      <vt:lpstr>Cambria Math</vt:lpstr>
      <vt:lpstr>Consolas</vt:lpstr>
      <vt:lpstr>Symbol</vt:lpstr>
      <vt:lpstr>ETH Zürich</vt:lpstr>
      <vt:lpstr>Furuta Pendulum</vt:lpstr>
      <vt:lpstr>Agenda</vt:lpstr>
      <vt:lpstr>1. Project Overview</vt:lpstr>
      <vt:lpstr>1. Project Overview</vt:lpstr>
      <vt:lpstr>2. SSC Interface &amp; Sensor</vt:lpstr>
      <vt:lpstr>2. SSC Interface &amp; Sensor – State Diagram</vt:lpstr>
      <vt:lpstr>3. PID Loop</vt:lpstr>
      <vt:lpstr>4. Drive Motor</vt:lpstr>
      <vt:lpstr>Demonstration from YouTube</vt:lpstr>
      <vt:lpstr>Outlook</vt:lpstr>
      <vt:lpstr>Hier steht der Folientitel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 Fe</dc:creator>
  <cp:lastModifiedBy>Ba Fe</cp:lastModifiedBy>
  <cp:revision>57</cp:revision>
  <dcterms:created xsi:type="dcterms:W3CDTF">2026-05-24T12:08:55Z</dcterms:created>
  <dcterms:modified xsi:type="dcterms:W3CDTF">2026-05-25T14:03:16Z</dcterms:modified>
</cp:coreProperties>
</file>